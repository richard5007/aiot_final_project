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a6e65d3ce4b67" /><Relationship Type="http://schemas.openxmlformats.org/officeDocument/2006/relationships/extended-properties" Target="/docProps/app.xml" Id="R7dc2dac3484448ec" /><Relationship Type="http://schemas.openxmlformats.org/officeDocument/2006/relationships/officeDocument" Target="/ppt/presentation.xml" Id="Rbde3a9f24395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2057db3ff4b65"/>
  </p:sldMasterIdLst>
  <p:notesMasterIdLst>
    <p:notesMasterId xmlns:r="http://schemas.openxmlformats.org/officeDocument/2006/relationships" r:id="Rb40ad4e1c5c04baa"/>
  </p:notesMasterIdLst>
  <p:sldIdLst>
    <p:sldId xmlns:r="http://schemas.openxmlformats.org/officeDocument/2006/relationships" id="256" r:id="R32c81556fe74490c"/>
    <p:sldId xmlns:r="http://schemas.openxmlformats.org/officeDocument/2006/relationships" id="257" r:id="R4f42a48e4d7343b8"/>
    <p:sldId xmlns:r="http://schemas.openxmlformats.org/officeDocument/2006/relationships" id="258" r:id="R510aeac239d2415c"/>
    <p:sldId xmlns:r="http://schemas.openxmlformats.org/officeDocument/2006/relationships" id="259" r:id="Raf7c1d3068c04e85"/>
    <p:sldId xmlns:r="http://schemas.openxmlformats.org/officeDocument/2006/relationships" id="260" r:id="R6cc3ef57a65c4b86"/>
    <p:sldId xmlns:r="http://schemas.openxmlformats.org/officeDocument/2006/relationships" id="261" r:id="Rf3d76646f04840af"/>
    <p:sldId xmlns:r="http://schemas.openxmlformats.org/officeDocument/2006/relationships" id="262" r:id="R7df0c6f2615544d3"/>
    <p:sldId xmlns:r="http://schemas.openxmlformats.org/officeDocument/2006/relationships" id="263" r:id="Rc5e791ad2bde4c0f"/>
    <p:sldId xmlns:r="http://schemas.openxmlformats.org/officeDocument/2006/relationships" id="264" r:id="R2c8155a627344ffb"/>
    <p:sldId xmlns:r="http://schemas.openxmlformats.org/officeDocument/2006/relationships" id="265" r:id="R0ee0e4bda5d740f0"/>
    <p:sldId xmlns:r="http://schemas.openxmlformats.org/officeDocument/2006/relationships" id="266" r:id="R3ba9427527c74c64"/>
    <p:sldId xmlns:r="http://schemas.openxmlformats.org/officeDocument/2006/relationships" id="267" r:id="R19cc8e5cd31a41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bf79be710c4a84" /><Relationship Type="http://schemas.openxmlformats.org/officeDocument/2006/relationships/slideMaster" Target="/ppt/slideMasters/slideMaster1.xml" Id="Rb0e2057db3ff4b65" /><Relationship Type="http://schemas.openxmlformats.org/officeDocument/2006/relationships/notesMaster" Target="/ppt/notesMasters/notesMaster1.xml" Id="Rb40ad4e1c5c04baa" /><Relationship Type="http://schemas.openxmlformats.org/officeDocument/2006/relationships/presProps" Target="/ppt/presProps.xml" Id="Rcefdab4bd24a425d" /><Relationship Type="http://schemas.openxmlformats.org/officeDocument/2006/relationships/tableStyles" Target="/ppt/tableStyles.xml" Id="R64b9bfbc02dc4ed9" /><Relationship Type="http://schemas.openxmlformats.org/officeDocument/2006/relationships/slide" Target="/ppt/slides/slide1.xml" Id="R32c81556fe74490c" /><Relationship Type="http://schemas.openxmlformats.org/officeDocument/2006/relationships/slide" Target="/ppt/slides/slide2.xml" Id="R4f42a48e4d7343b8" /><Relationship Type="http://schemas.openxmlformats.org/officeDocument/2006/relationships/slide" Target="/ppt/slides/slide3.xml" Id="R510aeac239d2415c" /><Relationship Type="http://schemas.openxmlformats.org/officeDocument/2006/relationships/slide" Target="/ppt/slides/slide4.xml" Id="Raf7c1d3068c04e85" /><Relationship Type="http://schemas.openxmlformats.org/officeDocument/2006/relationships/slide" Target="/ppt/slides/slide5.xml" Id="R6cc3ef57a65c4b86" /><Relationship Type="http://schemas.openxmlformats.org/officeDocument/2006/relationships/slide" Target="/ppt/slides/slide6.xml" Id="Rf3d76646f04840af" /><Relationship Type="http://schemas.openxmlformats.org/officeDocument/2006/relationships/slide" Target="/ppt/slides/slide7.xml" Id="R7df0c6f2615544d3" /><Relationship Type="http://schemas.openxmlformats.org/officeDocument/2006/relationships/slide" Target="/ppt/slides/slide8.xml" Id="Rc5e791ad2bde4c0f" /><Relationship Type="http://schemas.openxmlformats.org/officeDocument/2006/relationships/slide" Target="/ppt/slides/slide9.xml" Id="R2c8155a627344ffb" /><Relationship Type="http://schemas.openxmlformats.org/officeDocument/2006/relationships/slide" Target="/ppt/slides/slide10.xml" Id="R0ee0e4bda5d740f0" /><Relationship Type="http://schemas.openxmlformats.org/officeDocument/2006/relationships/slide" Target="/ppt/slides/slide11.xml" Id="R3ba9427527c74c64" /><Relationship Type="http://schemas.openxmlformats.org/officeDocument/2006/relationships/slide" Target="/ppt/slides/slide12.xml" Id="R19cc8e5cd31a41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531f7bf9b4f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c5620808654207" /><Relationship Type="http://schemas.openxmlformats.org/officeDocument/2006/relationships/notesMaster" Target="/ppt/notesMasters/notesMaster1.xml" Id="Ra15017483ebf48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5ae480d24d4a24" /><Relationship Type="http://schemas.openxmlformats.org/officeDocument/2006/relationships/notesMaster" Target="/ppt/notesMasters/notesMaster1.xml" Id="R8f6a8a683ef94d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278d0275ea4baa" /><Relationship Type="http://schemas.openxmlformats.org/officeDocument/2006/relationships/notesMaster" Target="/ppt/notesMasters/notesMaster1.xml" Id="R9966cc49c02d46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ba6bab1f504749" /><Relationship Type="http://schemas.openxmlformats.org/officeDocument/2006/relationships/notesMaster" Target="/ppt/notesMasters/notesMaster1.xml" Id="Rc04f15c844d74a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ab30bacd684abe" /><Relationship Type="http://schemas.openxmlformats.org/officeDocument/2006/relationships/notesMaster" Target="/ppt/notesMasters/notesMaster1.xml" Id="Re1ece148e1b349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c9ef871f854c81" /><Relationship Type="http://schemas.openxmlformats.org/officeDocument/2006/relationships/notesMaster" Target="/ppt/notesMasters/notesMaster1.xml" Id="R523bba4d1e1742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a8a8d7d7d84171" /><Relationship Type="http://schemas.openxmlformats.org/officeDocument/2006/relationships/notesMaster" Target="/ppt/notesMasters/notesMaster1.xml" Id="R889a0498d7384d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2ec641e49b4455" /><Relationship Type="http://schemas.openxmlformats.org/officeDocument/2006/relationships/notesMaster" Target="/ppt/notesMasters/notesMaster1.xml" Id="R5773c927e4ef4c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b97c5bb33c4605" /><Relationship Type="http://schemas.openxmlformats.org/officeDocument/2006/relationships/notesMaster" Target="/ppt/notesMasters/notesMaster1.xml" Id="Rfe3d859fb4c049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ff02dd2c6149ee" /><Relationship Type="http://schemas.openxmlformats.org/officeDocument/2006/relationships/notesMaster" Target="/ppt/notesMasters/notesMaster1.xml" Id="Rfed0dadc0dc34a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d74a99c7da48fe" /><Relationship Type="http://schemas.openxmlformats.org/officeDocument/2006/relationships/notesMaster" Target="/ppt/notesMasters/notesMaster1.xml" Id="R800cc707a86e4b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00d8ef992146c1" /><Relationship Type="http://schemas.openxmlformats.org/officeDocument/2006/relationships/notesMaster" Target="/ppt/notesMasters/notesMaster1.xml" Id="Ref1b9e7423b343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專題名稱與研究方向為暫定版本。資料來源：環境部 AQX_P_432，https://data.moenv.gov.tw/dataset/detail/aqx_p_432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 2025 reports that air-pollution exposure is associated with nearly one in eight deaths globally: https://www.who.int/publications/i/item/B09461. Taiwan MOENV hourly historical data: https://data.moenv.gov.tw/dataset/detail/aqx_p_488.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研究問題與限制是本提案的操作定義，將透過文獻回顧與資料盤點驗證。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來源：MOENV AQX_P_488 https://data.moenv.gov.tw/dataset/detail/aqx_p_488；即時資料 AQX_P_432 https://data.moenv.gov.tw/dataset/detail/aqx_p_432；MOENV air-pollution sensing IoT https://env.moenv.gov.tw/en/Issue/Index/53b6ae55-bb69-449e-953e-01c2330ca3b8。API key、歷史資料保存和查詢限制仍需實測。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 AI work: Anomaly Detection Using Generative Language Models and Deep Feature-Based Time Series Similarity, IEEE Access 13 (2025), https://doi.org/10.1109/ACCESS.2025.3604216. Low-cost PM sensor evidence: Fang et al. (2025), https://doi.org/10.1016/j.scitotenv.2025.180106; validation study DOI 10.1016/j.scitotenv.2025.179364; RH correction study DOI 10.1038/s41612-025-01115-8.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is a hypothesis, not a verified claim. Confirm after systematic review of air-quality dashboards, retrieval-grounded agents, and sensor data quality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流程為提案設計。風險與健康用語會依權威領域資料進一步校對。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資料來源與欄位見研究文件及 DESIGN.md。SensorThings API 資料對應須先完成驗證。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is the intended MVP interaction. The agent may ask a follow-up if location/time cannot be resolved; it should never conceal missing or stale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is intentionally model-agnostic; final algorithm and baseline will depend on historical data coverage and team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metrics are candidates. Event labels need an explicit rubric; forecast metrics are included only if forecasting remains in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are preliminary. Confirm full bibliographic metadata and relevance before submitting the final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681f101fd4d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7717426f44d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d00ea8a944d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27417837a4e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14ee0e7df48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d8f561408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7E41AB-61CC-4D1C-80D4-C3684A17B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DAA01C-0DF4-4CA1-A87F-86C1F2426B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ADE5F8-EDAB-4E4E-A4EE-899261D5B1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F62532-93A2-462D-AC97-AD2DB8A9F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2B9771-ED1B-4EC3-A012-101328D43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CAD709-2F53-45D2-9D26-A03044E74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63F81C-0F70-4702-AF1A-B35A8D0BFA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1BAA85-A826-4896-8D54-96058F6BD5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EC82BE-EA43-4E59-9CA3-DCD93A6B53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9515DA-1AB2-4150-967F-514F3C4C3E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88b5c3330949f0" /><Relationship Type="http://schemas.openxmlformats.org/officeDocument/2006/relationships/slideLayout" Target="/ppt/slideLayouts/slideLayout1.xml" Id="R5a0f734456ad4de0" /><Relationship Type="http://schemas.openxmlformats.org/officeDocument/2006/relationships/slideLayout" Target="/ppt/slideLayouts/slideLayout2.xml" Id="R7f6ce1bfe54546b0" /><Relationship Type="http://schemas.openxmlformats.org/officeDocument/2006/relationships/slideLayout" Target="/ppt/slideLayouts/slideLayout3.xml" Id="Rfda493c05e224ac9" /><Relationship Type="http://schemas.openxmlformats.org/officeDocument/2006/relationships/slideLayout" Target="/ppt/slideLayouts/slideLayout4.xml" Id="R49e787311d38495f" /><Relationship Type="http://schemas.openxmlformats.org/officeDocument/2006/relationships/slideLayout" Target="/ppt/slideLayouts/slideLayout5.xml" Id="R99b6f47a6e0e458d" /><Relationship Type="http://schemas.openxmlformats.org/officeDocument/2006/relationships/slideLayout" Target="/ppt/slideLayouts/slideLayout6.xml" Id="R07903d6e3ac845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0f734456ad4de0"/>
    <p:sldLayoutId xmlns:r="http://schemas.openxmlformats.org/officeDocument/2006/relationships" id="2147483650" r:id="R7f6ce1bfe54546b0"/>
    <p:sldLayoutId xmlns:r="http://schemas.openxmlformats.org/officeDocument/2006/relationships" id="2147483651" r:id="Rfda493c05e224ac9"/>
    <p:sldLayoutId xmlns:r="http://schemas.openxmlformats.org/officeDocument/2006/relationships" id="2147483652" r:id="R49e787311d38495f"/>
    <p:sldLayoutId xmlns:r="http://schemas.openxmlformats.org/officeDocument/2006/relationships" id="2147483653" r:id="R99b6f47a6e0e458d"/>
    <p:sldLayoutId xmlns:r="http://schemas.openxmlformats.org/officeDocument/2006/relationships" id="2147483654" r:id="R07903d6e3ac845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acd5a7d95408e" /><Relationship Type="http://schemas.openxmlformats.org/officeDocument/2006/relationships/notesSlide" Target="/ppt/notesSlides/notesSlide1.xml" Id="Rbe64b4432f68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0faca5bbe41b2" /><Relationship Type="http://schemas.openxmlformats.org/officeDocument/2006/relationships/notesSlide" Target="/ppt/notesSlides/notesSlide2.xml" Id="Rec76cb2562254b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3e4875ae34126" /><Relationship Type="http://schemas.openxmlformats.org/officeDocument/2006/relationships/notesSlide" Target="/ppt/notesSlides/notesSlide3.xml" Id="R8e1c303dd12045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d4e4ed17646bf" /><Relationship Type="http://schemas.openxmlformats.org/officeDocument/2006/relationships/notesSlide" Target="/ppt/notesSlides/notesSlide4.xml" Id="R7289ce3f69384a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3fb1ea09e48ed" /><Relationship Type="http://schemas.openxmlformats.org/officeDocument/2006/relationships/notesSlide" Target="/ppt/notesSlides/notesSlide5.xml" Id="R7ed9350f803445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7ee5037d4425a" /><Relationship Type="http://schemas.openxmlformats.org/officeDocument/2006/relationships/notesSlide" Target="/ppt/notesSlides/notesSlide6.xml" Id="R3a3064ec21154e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453799716460e" /><Relationship Type="http://schemas.openxmlformats.org/officeDocument/2006/relationships/notesSlide" Target="/ppt/notesSlides/notesSlide7.xml" Id="R430cfb6e95db47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8e194e2ab44ba" /><Relationship Type="http://schemas.openxmlformats.org/officeDocument/2006/relationships/notesSlide" Target="/ppt/notesSlides/notesSlide8.xml" Id="R6a7c5da6d96046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c8e97bb07422d" /><Relationship Type="http://schemas.openxmlformats.org/officeDocument/2006/relationships/notesSlide" Target="/ppt/notesSlides/notesSlide9.xml" Id="R5dc265db88ef46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6a8f4725e4d74" /><Relationship Type="http://schemas.openxmlformats.org/officeDocument/2006/relationships/notesSlide" Target="/ppt/notesSlides/notesSlide10.xml" Id="Rbda1dbbfb20c4d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8052eea6b4e1a" /><Relationship Type="http://schemas.openxmlformats.org/officeDocument/2006/relationships/notesSlide" Target="/ppt/notesSlides/notesSlide11.xml" Id="Rc7f69e3a64fe46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a66a341f340d0" /><Relationship Type="http://schemas.openxmlformats.org/officeDocument/2006/relationships/notesSlide" Target="/ppt/notesSlides/notesSlide12.xml" Id="Ra8e721a6f8cf45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85D1F-FE58-40FA-8135-8D1B3040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72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6A32E-AE65-4FF0-B99C-27814C0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65C9F-0FFA-4AF9-B4D5-53CD97C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CA5B2-0EA6-4935-87C2-DE708E8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期末專題提案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6C9A0-A164-46BC-B23D-F2792BEE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381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台灣空氣品質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CC255-9B1E-44C4-A7E4-195F9C8E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09485-B471-4991-835C-DB3A0C98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以逐時監測資料解讀污染事件、趨勢與站點差異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23959-D45B-4842-843B-689F65EB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rPr>
              <a:t>Proposal draft  ·  2026</a:t>
            </a:r>
          </a:p>
        </p:txBody>
      </p:sp>
    </p:spTree>
    <p:extLst>
      <p:ext uri="{BB962C8B-B14F-4D97-AF65-F5344CB8AC3E}">
        <p14:creationId xmlns:p14="http://schemas.microsoft.com/office/powerpoint/2010/main" val="1668831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16001-C2A6-45DF-A5B0-30BAE83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FF6F1-C3E0-40C6-BB1C-80E6E0E8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研究動機｜資料很多，解讀仍需要脈絡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9FB39-F625-4E16-BDDE-C1A116BA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從可查詢的監測值，走向可追溯的事件解讀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5CFE5-2AC4-4E50-B07B-750B5C9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7A759-AEEF-478B-A705-A0DEFA90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978D5-721C-4D3A-9834-F55726B4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952BB-39B6-418C-B480-077C4A3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逐時官方資料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66001-5ABA-4AB5-A5B3-533EB780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AQI、污染物、風場、座標、發布時間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CFE08-0516-4742-BE2F-3B3D5942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24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7B10A-5D24-4CC8-BE99-31A45F9D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使用者真正想知道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ABDFB-A145-4C4F-B62B-CE24A256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AA5DC-9D4C-4FF8-9888-A9453C87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哪個污染物帶動指標變化？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6C13A-58C7-49C2-B04F-3E9C95DD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F7459-6805-4FA2-8B15-C332ED45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附近測站是否也出現相同變化？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2AE49-EA0A-43A0-B28D-B7A8E68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4DEEF-2572-4E8E-81FF-7436DAE6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資料有多新、能支持什麼結論？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51FB1-6F69-4DE5-823B-3475A975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7B198-B0D8-4EDC-AB4A-011369F9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約 1/8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E55E9-EFB5-40F6-82F9-9ECE21BC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全球死亡與空污暴露相關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F1D0E-C6EF-498F-91D4-FD7E9F07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WHO 2025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45583-E036-46BE-8C85-84554BF0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71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台灣逐時站點資料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91E73-EEA8-4F64-A3B1-6A6921D7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14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可以追查地點、污染物與時間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9C25B-C69E-4188-80CF-F528721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97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目標：把觀測值轉成可核對的解讀</a:t>
            </a:r>
          </a:p>
        </p:txBody>
      </p:sp>
    </p:spTree>
    <p:extLst>
      <p:ext uri="{BB962C8B-B14F-4D97-AF65-F5344CB8AC3E}">
        <p14:creationId xmlns:p14="http://schemas.microsoft.com/office/powerpoint/2010/main" val="1673028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8E742-3EF7-4CD7-82AF-E2BBA3DF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17533-908C-446B-ABC5-A6AF981A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問題定義｜讓空品回答可核對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C5A62-4D8C-4BBB-A29E-D787A91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聚焦地點、時間、污染物與證據來源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C7B17-AF37-405A-BACC-F351B831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B3CD7-F4B4-448A-9FB8-12D7A1F5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53065-07F9-4757-B2DE-9FF875E5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7C38A-CE86-4E9F-9DBF-F7A7D6A3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7065D-03E5-408F-B4F1-9D3691A6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給定一個地點與時間範圍，系統如何把公開監測值轉成可理解、可追溯的說明？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FDBB1-35DB-4438-AF59-F397BAEE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67ED5-E7B7-422F-8DFB-744106F6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2FCED-3377-4214-BFB7-CA6063CB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9E670-5A03-4745-9CE2-5598FCDD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 可能概括了多種污染物；單一數值未必說明變化原因。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220C2-086F-4EB2-B0C5-BDA471A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1613A-9653-4127-A424-59445B3C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8B60F-5E96-4D2C-AFC6-80FFC373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C2256-2F5E-410F-9684-55EAD78E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測站資料有時間差、缺漏與地理差異，需要對齊後才適合比較。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5F8D1-8CF8-4D3B-A0ED-FB56F60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06676-E272-441B-A408-32E7932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9C808-9141-401A-85EF-9106C307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表達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9A743-705D-4AA0-AD08-0F8ACC8D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回答必須區分觀測事實、分析推論與資料不足之處。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10F95-D86F-475A-862E-8F21620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目標使用者：需要快速理解台灣特定地區空品變化的一般使用者與課堂評估者</a:t>
            </a:r>
          </a:p>
        </p:txBody>
      </p:sp>
    </p:spTree>
    <p:extLst>
      <p:ext uri="{BB962C8B-B14F-4D97-AF65-F5344CB8AC3E}">
        <p14:creationId xmlns:p14="http://schemas.microsoft.com/office/powerpoint/2010/main" val="1646976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5A14B-DD06-465B-8C12-1DAF8757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892CE-8489-4194-9D75-2949D4DC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資料基礎｜官方逐時資料先做穩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964CA-F7F5-44E9-85A1-159CB208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MVP 以環境部 AQX_P_488 歷史資料為主，AQX_P_432 作即時展示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4D66C-1E31-4198-A42B-98E97D5E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5162E-15C7-4546-91DE-C70B1B3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372C7-CA9F-481C-A7B9-365D771E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A9932-9352-4615-9ACC-2DB472F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823A4-B3A0-4B33-92F0-FC953059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F12B5-03C9-47FA-B970-0B21DAA0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57375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AQX_P_488｜歷史逐時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1BBD0-F7BE-4FFD-8E28-20C1A3AF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57425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AQI、主要污染物、PM₂.₅、PM₁₀、O₃、NO₂、風速風向、座標、測站 ID、發布時間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A4E05-1AC7-432F-8FEA-FD7E4D7B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75ECB-B1C7-4CC9-82BB-945CF081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AFE73-8EF1-4C90-AE3D-3EFA875D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空污 IoT｜約每 3 分鐘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57453-2349-4E3A-9268-C40E2DBF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57425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PM₂.₅、溫度、相對濕度等感測觀測；待確認 API、歷史保存與站點對應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D487C-1677-4378-9435-D8A40D5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資料選擇原則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6E8A9-CBE4-431B-86EF-BBDB9339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52A5B-62C1-4874-A6F3-5EB6A37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1030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主資料可重現：先確認歷史下載/API 與欄位語意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0FAD0-45DF-4C8B-9221-2969BA15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75CD9-9937-4EF5-8CB1-C2D5521A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030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不把感測器讀值直接當作參考級真值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092A7-34EA-43EC-8874-DC66322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C6E9A9-C32A-4BAE-A831-DF3F24E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1030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跨來源整合只有在時間與站點可可靠對應時才納入</a:t>
            </a:r>
          </a:p>
        </p:txBody>
      </p:sp>
    </p:spTree>
    <p:extLst>
      <p:ext uri="{BB962C8B-B14F-4D97-AF65-F5344CB8AC3E}">
        <p14:creationId xmlns:p14="http://schemas.microsoft.com/office/powerpoint/2010/main" val="1496098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22F54-C610-40C1-9AC1-72976AE3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C5F54-3E26-47DA-B7B1-982F8D3F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相關研究｜方法之外，也要理解量測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26EB6-B490-44AE-8D6A-54D807F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AI 技術與空品領域知識各占一半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A8F25-8995-49B1-9714-2AEA59DD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9B43A-8546-48FD-A90E-1B82D0F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AFD9C-BDC0-4BCE-A0EB-E5A81077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FE694-DE40-4AEF-B360-AB6B732C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AI／資料分析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A245F-A5C6-48BE-8824-79623346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286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時間序列趨勢與事件偵測</a:t>
            </a:r>
          </a:p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簡單基準與模型比較</a:t>
            </a:r>
          </a:p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檢索增強回答與證據核對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2A943-CED9-4053-AB0A-7B66F741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19050" cy="3714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09C4E-FA61-40F2-AF6C-FE0FE5DE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領域知識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351CF-19BB-49F9-BBE8-AC8C9A36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762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 與污染物指標</a:t>
            </a:r>
          </a:p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測站代表性、缺漏與發布延遲</a:t>
            </a:r>
          </a:p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微型感測器校正、濕度與漂移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6CDFF-8CE7-4E61-A9C5-8CFF80ED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5B6C5-EE83-461B-B69B-8A164742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2025 文獻提示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3C776-5632-4DF5-8B03-994B726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2025 研究已用時間序列檢索、鄰站比較與 LLM 解釋空品異常；本題不把 Agent 架構當創新，而評估台灣資料來源追溯與回答正確性。</a:t>
            </a:r>
          </a:p>
        </p:txBody>
      </p:sp>
    </p:spTree>
    <p:extLst>
      <p:ext uri="{BB962C8B-B14F-4D97-AF65-F5344CB8AC3E}">
        <p14:creationId xmlns:p14="http://schemas.microsoft.com/office/powerpoint/2010/main" val="931952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35459-68C3-4D67-AC95-D4CFA893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66FAA-2792-49AF-B1DC-F40E5338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研究缺口｜把數值分析與回答責任接起來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4ACF7-848D-49DA-A4C9-8D1ED028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本提案的缺口仍是待文獻系統性確認的研究假設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8A8D7-B9BD-443F-A844-097DC41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AFC7D-818D-4BB7-B9E8-CC6FFAEC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3C032-75B1-4B7E-B52B-ECB0E388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35E60-14E8-4567-AB07-B9A9068D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現有能力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4891A-2815-4D04-9E2D-BC0AD3F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官方測站資料與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感測網路各自提供觀測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D4370-E894-4754-A0C6-6851D5C3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6EBAA-2466-4A4F-9EEE-804EB11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尚待處理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DD869-9B7E-4D90-AFAB-E0D7106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資料品質、時間差、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污染物脈絡需一併呈現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6077E-9451-4200-90E0-1A832120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5E204-31A8-4BFD-A952-DBE0CB89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本專題補足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BCFB0-D2F0-44C6-9CA8-C63FFE6A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Agent 對每項結論附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測站、時間與數值證據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CAD43-A933-49DE-973C-5944CA37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350F2-C39C-4CE0-9B86-283B2F16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如何驗證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39F64-34C7-40B2-BED0-628BBABE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人工核對來源與數值；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比較透明的簡單基準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964BD-612D-44A9-9C72-9198E51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C6758-1C1A-4D4C-A4FB-C4CFD4D2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Research gap（暫定）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A2AF4-9E2F-476F-BB75-EB244960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缺少一套針對台灣公開空品資料、同時呈現來源可追溯性、時間/站點脈絡與不確定性，並用明確基準評估的互動式解讀流程。</a:t>
            </a:r>
          </a:p>
        </p:txBody>
      </p:sp>
    </p:spTree>
    <p:extLst>
      <p:ext uri="{BB962C8B-B14F-4D97-AF65-F5344CB8AC3E}">
        <p14:creationId xmlns:p14="http://schemas.microsoft.com/office/powerpoint/2010/main" val="842308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82DDC3-D24D-4021-9536-A6290197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0B1DA-DCA0-4BE9-B3BE-1369D43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Agent 設計｜問題拆解後才選工具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1792E-8C1A-412D-9FC6-E917D39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生成式模型負責理解與表達；數值由資料工具計算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43252-0435-4FB9-9002-04D9413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41D99-60B3-4AD4-BE35-812F2BA3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89073-ABFF-4805-A725-1F7CBEE9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00DF4-BC92-436E-B9DA-A844D992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7177-5DDE-4AE7-8E67-EF0087DE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9EA6A-3C90-40B6-8F9B-1D80EB13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判斷意圖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E1104-690E-4AA1-B3C4-CE2EB946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趨勢 / 比較 / 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EA8F6-87DB-4263-BF66-5AD5536B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8B221-B9FB-4C36-BF9E-AF02AC9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BB691-A5F8-4817-8992-2C8A1F30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D1C42-24C8-4047-A22D-4C20A904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取回資料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14EC0-7FFE-4717-B85B-3C21BFAB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測站、時間窗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F8327-2F11-49C5-8C39-2A8472B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F3F60-AEA9-4F28-9D29-3C8F570E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2F91A-5B52-43F5-AA2D-7E5845D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BEB09-856B-47E4-8588-1305BE63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檢查品質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E2D7B-B292-488B-9177-D591E884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缺漏、延遲、單位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E7E04-4EC6-4D6B-A6E5-ABD054F6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535E3-D461-46FC-AD56-65506D7F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AE206-1F6D-48F5-B809-EE024AC5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BA32D-F633-4AD2-9DD2-1B38648D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執行分析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5A258-2BF3-42CD-A425-6605D56C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變化、基準、差異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D8601-DFF0-44BA-8632-5AD08EA7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9CA8A-4BEF-461C-96ED-ED2B3F2F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0A6CB5-4976-434E-A516-C694C469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47504-E9CF-427D-8107-9A656AE6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組合證據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998BD2-82C3-45C6-9B4E-F3C7D72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污染物 + 領域規則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FF8309-005C-4CCE-8636-6E3E3CC9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D32B87-93C8-4539-9065-3D4BB9DF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4D14D-A8DB-49DC-8E63-3FE7E7F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90429C-9C6F-43FD-95EA-9C48A58A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回答核對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29E608-21B3-4E9F-9C6E-08071213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來源、限制、不確定性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F8AB04-6E60-4DA7-9560-49624FA4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0610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98E569-A9ED-4BF2-B06A-976A7232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安全邊界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DCB056-8D3B-4E20-919C-D4991D07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719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不推定污染來源、不診斷個人健康、不輸出沒有來源記錄支撐的數值。</a:t>
            </a:r>
          </a:p>
        </p:txBody>
      </p:sp>
    </p:spTree>
    <p:extLst>
      <p:ext uri="{BB962C8B-B14F-4D97-AF65-F5344CB8AC3E}">
        <p14:creationId xmlns:p14="http://schemas.microsoft.com/office/powerpoint/2010/main" val="887836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900904-7C39-40AA-A29D-43F1DA36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DE516-71FB-42AD-9DB1-658BFECB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System Architecture｜資料、分析與領域規則分層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53309-64FB-4432-82B7-E0316EC0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方塊代表可實作模組；IoT 來源為條件式擴充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1ADC8-A2D7-460A-9A22-9BA81B2A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BC126-456D-4FCB-AEAA-1A4F1712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9AF2A-D307-4470-94E4-A383E3A6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FAE64-953F-410B-8C3C-4CAB4EE1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FA4D7-C56D-40AD-A50C-ACE122B0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① 使用者</a:t>
            </a:r>
          </a:p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3B9EF-5105-488A-BC2F-0D4C9AA3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地點 / 時段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6557B-54D9-4294-8BE2-31E99F86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1E405-46EC-48A5-A1E6-C715372A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6DE3F-2DAD-4A79-950B-89DE88F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②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8D4C9-8A1C-458A-8BA1-2A48EE3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意圖 / 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2BC1E-0371-467B-84E2-D13F581C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5CFF5-2601-444D-8358-C3449B8F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62D4B-8EF0-4F3F-8F4F-19D0097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③ 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2A6B5-7131-4F53-BC54-1CF467DC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官方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C3B95-4CCC-4C1E-99F8-65C189A6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1617F-C436-443A-8485-FBB4A9B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3C618-80FD-4EFE-B309-A0075ECD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④ Data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CAFB9-3D47-4B12-AFAE-13265DE3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對齊 / 品質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523CD-6BBA-4680-9DFE-4FCFB4FE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53806-9961-4694-ABE6-5E0A660A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631D0-3D40-42FE-9E07-7EA5A930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⑤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AC078-B4BC-4794-8A18-4834772A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趨勢 / 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3527E-DD7F-4A26-A9A2-868FE695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B52C35-ADF6-422B-A338-DEECE3F3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9300B-5B5A-4042-96D2-89F4D601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⑥ Domain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3E0FA-F484-4208-8442-7DA28F44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 / 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6A46D-7903-4E89-9EE3-03BB63DE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64727-13DF-47A8-9334-D6F57938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B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1AC353-F231-4620-B74A-8180B5B0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⑦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E524B1-7ACA-4E03-9339-F5C434E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來源核對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330F14-0DC2-4073-9CD8-C9E096D9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2ADA7B-F4D9-42A6-90AB-9D6FA7AC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E6532F-8A94-4661-A29C-68EC3B47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⑧ Output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9C700-3B9D-4498-BD57-5AAEF06D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解釋 / 限制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99B92A-A28C-4E6F-A57F-3378EA0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19575"/>
            <a:ext cx="3000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2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7B6BC1-AF49-4AD5-9F71-791C200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719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rPr>
              <a:t>MOENV AQX_P_488｜歷史資料主來源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6B8F3-C9E9-4927-8D5E-2B8DE79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9575"/>
            <a:ext cx="3429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DD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4FEB8E-7B8F-4D60-AA61-7F1A4CDA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Civil IoT 感測資料｜可選擴充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ED7FB9-F17B-4EF9-A4F7-FA2C3217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11CFD3-902F-4E04-87F7-02EF4A9D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147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C5E425-32F6-47B6-BA4F-EDF7FFC5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回答必須可回連至測站、發布時間、欄位與原始來源。</a:t>
            </a:r>
          </a:p>
        </p:txBody>
      </p:sp>
    </p:spTree>
    <p:extLst>
      <p:ext uri="{BB962C8B-B14F-4D97-AF65-F5344CB8AC3E}">
        <p14:creationId xmlns:p14="http://schemas.microsoft.com/office/powerpoint/2010/main" val="9513562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3F024-D398-434E-922E-0E48476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19863-02B1-4479-83BF-A0DA8BD6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Flowchart｜資料不足時明確回報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4FF21-3AFA-4C93-A031-C726EA1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以例外路徑避免把缺漏資料包裝成確定答案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1E7EF-B138-49DA-9374-619487B7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8A4EC-D8C6-4C8C-A03B-11FDA2F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9678B-CEF6-469A-AF80-A4543A0B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EF2AB-C37C-4998-99F1-0FA0C23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D5B56-64FD-439A-AE2A-CA8D2AB9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81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收到問題 → 解析地點與時間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0A066-448D-4052-BCED-DB6602FC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9072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A2233-E529-43BC-A1A5-1600D292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9771F-2C55-4FD6-AA49-719F7319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907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取回對應測站紀錄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23BFB-4EB9-4CD0-884C-AB70BA66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9567B-4496-47C9-ADD7-EC409FBC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9562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B6D49-9E89-433D-9AF0-38C44456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檢查新鮮度、缺漏與時間連續性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A98B9-2D9D-44DC-9A2B-5FCAECD4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997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1F04C-4FA4-45B1-94AA-F73FDF2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7559A-CAA7-41B7-88EB-A19E02DF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執行趨勢 / 事件 / 站點比較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A9936-0D3A-4685-B516-FD7141FD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1960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D8A2F-A224-40FF-AA9D-CE27736F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148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6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2A831-55C9-4913-8F34-C59A12E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附證據與限制產生回答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DD8B5-0677-4E2A-B8D6-D42B3157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1428750" cy="904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E4D9"/>
          </a:solidFill>
          <a:ln xmlns:a="http://schemas.openxmlformats.org/drawingml/2006/main" w="9525">
            <a:solidFill>
              <a:srgbClr val="E48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214D0-F06F-4B2F-B901-05A2CF25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527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資料足夠？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3A253-98F5-43E3-A332-AA47893C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742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2578F-43D9-4F9C-8C91-BF5CB37B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B9CCB-2ED2-4FA2-BFA2-3A785737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90950"/>
            <a:ext cx="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64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CC4F5-F3EF-478C-A395-687E8964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95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59674-E8F5-4BFA-8FB9-9D70FDD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571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A64B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0E9845-67EE-453E-8CBC-E53CA542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577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回報資料缺口</a:t>
            </a:r>
          </a:p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與最後更新時間</a:t>
            </a:r>
          </a:p>
        </p:txBody>
      </p:sp>
    </p:spTree>
    <p:extLst>
      <p:ext uri="{BB962C8B-B14F-4D97-AF65-F5344CB8AC3E}">
        <p14:creationId xmlns:p14="http://schemas.microsoft.com/office/powerpoint/2010/main" val="9405891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5A7588-1E28-4954-B027-E27B7BA1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960D5-36DD-4281-8532-E153C477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核心演算法｜每項結論都保留來源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BAAF5-FAF3-48F2-A180-58A84347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數值分析由工具執行，LLM 不直接編造監測數值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DCD03-6C8C-4E1E-BBC3-3664090E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D47AE-C4F7-4D8F-B6E8-A850DDB2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E1776-0886-45F6-93F2-6AE83B40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4848B-C8AA-419B-BFC8-EF7E6996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01  intent, place, period, pollutant ← parse(question)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BF19B-93F8-4974-9C60-804AC05F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02  stations ← select_supported_stations(place)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B0A9F-7585-4AEF-99B5-1F72005B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03  records ← retrieve(stations, period)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3EAE6-5BD3-4DCC-88CF-E34934DB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04  if records empty: return source_status_and_gap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25795-94EF-4BEC-B3E1-2DF4C664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05  records ← normalize_units_and_timestamps(records)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1BFC3-B83A-4005-980D-BA8472D6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06  quality ← check_missingness_duplicates_freshness(records)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C869C-1567-4967-9C65-F38B06DF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07  if evidence insufficient: return limitation_response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3507F-A412-4976-ACFF-908FDEF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08  result ← analyze_trend_event_or_station_difference(records)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E1E0C-73CA-42F6-835C-D8792B6D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09  result ← compare_with_simple_baseline_if_needed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89464-98ED-4C75-A8CD-9D2CB20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10  claims ← apply_domain_rules_and_attach_provenance(result)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19030-FCA0-42C6-AE96-3C62FC6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11  claims ← remove_or_qualify_unsupported_claims(claims)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2769C-D6A5-4A19-A539-0A0A8F8C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12  return answer(values, timestamps, sources, uncertainty)</a:t>
            </a:r>
          </a:p>
        </p:txBody>
      </p:sp>
    </p:spTree>
    <p:extLst>
      <p:ext uri="{BB962C8B-B14F-4D97-AF65-F5344CB8AC3E}">
        <p14:creationId xmlns:p14="http://schemas.microsoft.com/office/powerpoint/2010/main" val="1852664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CDDA4-A431-43BA-80D8-0896A8BA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8B34E-7EC3-4369-A8AB-5449BC3D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Evaluation｜檢查分析品質，也檢查回答是否有據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15E1E-7349-4F5C-9C11-E899B90C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不以語言流暢度代替正確性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CD8B7-610C-44A8-9CE6-50AE549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CA31C-26A6-41DC-A7E5-2FE647EB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EF4EA-5243-42C3-B1E3-1F97A17D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12D9E-B32D-4289-BE88-62DFAA1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925FA-453F-4493-983C-C54AAC7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B50F9-5DBF-4274-9C66-26B5EE85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資料品質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17FA2-4E68-43C1-A17F-75FD640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完整率、重複筆數、時間戳合法率、資料新鮮度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47655-1631-4D39-9557-4CC6767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80328-51E2-4B24-BF9D-D84D4002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8C9B4-BA98-4587-89F9-8DA2CE1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分析效果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72F52-5EEF-442F-B0D2-BCFF735E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與門檻/持續性簡單基準比較；依任務選 precision、recall、F1 或 MAE/RMSE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EED91-42C6-4343-837C-26F69355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8D464-56A3-4492-8481-314A2CE3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B86AE-7FB0-4D49-84D5-7C767AC4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證據忠實度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EFFCE-9BA5-4FA3-8CD1-3FB547EC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抽查測站、時間、數值、主要污染物是否與取回紀錄吻合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82B5C-E29F-40DE-9924-40099EE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壓力案例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26399-FB0E-455E-A9C5-CC98223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761D4-20EE-4884-85F1-1153BD4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資料陳舊或中斷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48B46-96A4-42B4-88D0-5DB4F17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738B8-8ADF-412B-B80F-A4B6F2D0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鄰近測站讀值相反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0E0BC-1908-4281-8E6D-B1F9F2E9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9A15A-2678-4862-B06E-D0C837FD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微型感測與官方測站不一致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0EE6ED-7D40-4C90-B056-FE1A5BB7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647F5-8F7E-4E8E-BA01-40465A17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問題超出資料能回答的範圍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179D1C-A87C-4CEA-85EA-15858278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若無可靠事件標籤，不宣稱事件分類準確率；先定義標註規則與案例集。</a:t>
            </a:r>
          </a:p>
        </p:txBody>
      </p:sp>
    </p:spTree>
    <p:extLst>
      <p:ext uri="{BB962C8B-B14F-4D97-AF65-F5344CB8AC3E}">
        <p14:creationId xmlns:p14="http://schemas.microsoft.com/office/powerpoint/2010/main" val="1882827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37316-C12D-4818-9C54-4481FEEE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0422B-FD2B-47C3-B140-0D0CFDEB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預期成果與下一步｜先驗證資料，再鎖定實驗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D1659-CA6C-41E0-9C39-B1BFB995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本提案尚未進行模型實驗，以下均為預期工作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E2E8A-F7D7-4DD8-A8C1-95F7022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22DD5-3F1E-4EFD-A812-32306B96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D48E7-5E5E-4F5F-A2F2-6B07D081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7BE23-DEEB-4DAE-9317-7170996A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預期成果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992C4-66FB-4496-8956-160B8B5E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2838F-AA5D-4AF1-A69B-70A14C0A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1455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可重現的台灣空品資料整理流程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BBC5F-622C-4D4C-ABC2-A892F7CE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CE8B9-F75C-444E-B0C9-6B823967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95575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可追溯來源的 Agent 原型與失敗案例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3ECF2-BD88-4128-B465-590EC18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54A35-870A-4E15-A67E-AEDB316B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公開的評估方法、限制與設計文件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3CDD4-C9CB-4A22-A3C3-39699357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9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近期資料查核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8161B-BFA2-4743-A2A0-FFC84C4D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50CD9-ACBA-4E7C-A18C-AF45A770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確認歷史下載 / API 取得流程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FB129-4448-4AF1-93A0-B59A9B6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121AE-DD86-49B4-8AA6-4AAD8FDC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盤點站點連續性與缺值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9CAC9-8D85-46AD-B26F-5AA4131F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4B6D2-9057-43A1-89E3-1767A4D5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再決定校園或跨區研究範圍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B5F83-A0BA-4B5A-A6DA-7F19E966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620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9B3B8-02C8-4296-94DC-36E370D1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主要來源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FD539-2990-4809-9029-A52DBE85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MOENV AQX_P_432｜data.moenv.gov.tw/dataset/detail/aqx_p_432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MOENV Air-pollution sensing IoT｜env.moenv.gov.tw/Issue/Index/53b6ae55-bb69-449e-953e-01c2330ca3b8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Fang et al. (2025)｜doi:10.1016/j.scitotenv.2025.180106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STOTEN (2025)｜doi:10.1016/j.scitotenv.2025.179364</a:t>
            </a:r>
          </a:p>
        </p:txBody>
      </p:sp>
    </p:spTree>
    <p:extLst>
      <p:ext uri="{BB962C8B-B14F-4D97-AF65-F5344CB8AC3E}">
        <p14:creationId xmlns:p14="http://schemas.microsoft.com/office/powerpoint/2010/main" val="602069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2026-10-29T08:15:41.0490000Z</dcterms:created>
  <dcterms:modified xsi:type="dcterms:W3CDTF">2026-10-29T08:15:41.0490000Z</dcterms:modified>
</coreProperties>
</file>