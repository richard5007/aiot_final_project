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b86d0e87d5474c" /><Relationship Type="http://schemas.openxmlformats.org/officeDocument/2006/relationships/extended-properties" Target="/docProps/app.xml" Id="Rbeddbe4bbd474bf7" /><Relationship Type="http://schemas.openxmlformats.org/officeDocument/2006/relationships/officeDocument" Target="/ppt/presentation.xml" Id="Ree95a0b2c0cf42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164835a6554694"/>
  </p:sldMasterIdLst>
  <p:notesMasterIdLst>
    <p:notesMasterId xmlns:r="http://schemas.openxmlformats.org/officeDocument/2006/relationships" r:id="Rb00b562a04164eab"/>
  </p:notesMasterIdLst>
  <p:sldIdLst>
    <p:sldId xmlns:r="http://schemas.openxmlformats.org/officeDocument/2006/relationships" id="256" r:id="R82af4db78c424386"/>
    <p:sldId xmlns:r="http://schemas.openxmlformats.org/officeDocument/2006/relationships" id="257" r:id="Rb95d95e9edc04709"/>
    <p:sldId xmlns:r="http://schemas.openxmlformats.org/officeDocument/2006/relationships" id="258" r:id="R4f8c07e3e7b044ae"/>
    <p:sldId xmlns:r="http://schemas.openxmlformats.org/officeDocument/2006/relationships" id="259" r:id="R20e1a0b6701d4452"/>
    <p:sldId xmlns:r="http://schemas.openxmlformats.org/officeDocument/2006/relationships" id="260" r:id="R30f5f8533fd14291"/>
    <p:sldId xmlns:r="http://schemas.openxmlformats.org/officeDocument/2006/relationships" id="261" r:id="R6a7fd846ca734f9f"/>
    <p:sldId xmlns:r="http://schemas.openxmlformats.org/officeDocument/2006/relationships" id="262" r:id="R428d682b1a4d4099"/>
    <p:sldId xmlns:r="http://schemas.openxmlformats.org/officeDocument/2006/relationships" id="263" r:id="R870fdc19ece64fcd"/>
    <p:sldId xmlns:r="http://schemas.openxmlformats.org/officeDocument/2006/relationships" id="264" r:id="Ra9d9b91c607d471e"/>
    <p:sldId xmlns:r="http://schemas.openxmlformats.org/officeDocument/2006/relationships" id="265" r:id="R15523ad23c264166"/>
    <p:sldId xmlns:r="http://schemas.openxmlformats.org/officeDocument/2006/relationships" id="266" r:id="R786850588a334c57"/>
    <p:sldId xmlns:r="http://schemas.openxmlformats.org/officeDocument/2006/relationships" id="267" r:id="Ra1a3ced0afb44d47"/>
    <p:sldId xmlns:r="http://schemas.openxmlformats.org/officeDocument/2006/relationships" id="268" r:id="Rb2a959fe9a7944d4"/>
    <p:sldId xmlns:r="http://schemas.openxmlformats.org/officeDocument/2006/relationships" id="269" r:id="Rc6fa279a2c824cac"/>
    <p:sldId xmlns:r="http://schemas.openxmlformats.org/officeDocument/2006/relationships" id="270" r:id="R655784767ee34fd1"/>
    <p:sldId xmlns:r="http://schemas.openxmlformats.org/officeDocument/2006/relationships" id="271" r:id="Rfee867842c3b4aad"/>
    <p:sldId xmlns:r="http://schemas.openxmlformats.org/officeDocument/2006/relationships" id="272" r:id="Rb18e0fae3b3342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f8d562cdaf45d4" /><Relationship Type="http://schemas.openxmlformats.org/officeDocument/2006/relationships/slideMaster" Target="/ppt/slideMasters/slideMaster1.xml" Id="R6d164835a6554694" /><Relationship Type="http://schemas.openxmlformats.org/officeDocument/2006/relationships/notesMaster" Target="/ppt/notesMasters/notesMaster1.xml" Id="Rb00b562a04164eab" /><Relationship Type="http://schemas.openxmlformats.org/officeDocument/2006/relationships/presProps" Target="/ppt/presProps.xml" Id="R0d15e6664c584b30" /><Relationship Type="http://schemas.openxmlformats.org/officeDocument/2006/relationships/tableStyles" Target="/ppt/tableStyles.xml" Id="Rda68bdcbb1034ddd" /><Relationship Type="http://schemas.openxmlformats.org/officeDocument/2006/relationships/slide" Target="/ppt/slides/slide1.xml" Id="R82af4db78c424386" /><Relationship Type="http://schemas.openxmlformats.org/officeDocument/2006/relationships/slide" Target="/ppt/slides/slide2.xml" Id="Rb95d95e9edc04709" /><Relationship Type="http://schemas.openxmlformats.org/officeDocument/2006/relationships/slide" Target="/ppt/slides/slide3.xml" Id="R4f8c07e3e7b044ae" /><Relationship Type="http://schemas.openxmlformats.org/officeDocument/2006/relationships/slide" Target="/ppt/slides/slide4.xml" Id="R20e1a0b6701d4452" /><Relationship Type="http://schemas.openxmlformats.org/officeDocument/2006/relationships/slide" Target="/ppt/slides/slide5.xml" Id="R30f5f8533fd14291" /><Relationship Type="http://schemas.openxmlformats.org/officeDocument/2006/relationships/slide" Target="/ppt/slides/slide6.xml" Id="R6a7fd846ca734f9f" /><Relationship Type="http://schemas.openxmlformats.org/officeDocument/2006/relationships/slide" Target="/ppt/slides/slide7.xml" Id="R428d682b1a4d4099" /><Relationship Type="http://schemas.openxmlformats.org/officeDocument/2006/relationships/slide" Target="/ppt/slides/slide8.xml" Id="R870fdc19ece64fcd" /><Relationship Type="http://schemas.openxmlformats.org/officeDocument/2006/relationships/slide" Target="/ppt/slides/slide9.xml" Id="Ra9d9b91c607d471e" /><Relationship Type="http://schemas.openxmlformats.org/officeDocument/2006/relationships/slide" Target="/ppt/slides/slide10.xml" Id="R15523ad23c264166" /><Relationship Type="http://schemas.openxmlformats.org/officeDocument/2006/relationships/slide" Target="/ppt/slides/slide11.xml" Id="R786850588a334c57" /><Relationship Type="http://schemas.openxmlformats.org/officeDocument/2006/relationships/slide" Target="/ppt/slides/slide12.xml" Id="Ra1a3ced0afb44d47" /><Relationship Type="http://schemas.openxmlformats.org/officeDocument/2006/relationships/slide" Target="/ppt/slides/slide13.xml" Id="Rb2a959fe9a7944d4" /><Relationship Type="http://schemas.openxmlformats.org/officeDocument/2006/relationships/slide" Target="/ppt/slides/slide14.xml" Id="Rc6fa279a2c824cac" /><Relationship Type="http://schemas.openxmlformats.org/officeDocument/2006/relationships/slide" Target="/ppt/slides/slide15.xml" Id="R655784767ee34fd1" /><Relationship Type="http://schemas.openxmlformats.org/officeDocument/2006/relationships/slide" Target="/ppt/slides/slide16.xml" Id="Rfee867842c3b4aad" /><Relationship Type="http://schemas.openxmlformats.org/officeDocument/2006/relationships/slide" Target="/ppt/slides/slide17.xml" Id="Rb18e0fae3b3342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acb52905eb40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25c55cd9f74e99" /><Relationship Type="http://schemas.openxmlformats.org/officeDocument/2006/relationships/notesMaster" Target="/ppt/notesMasters/notesMaster1.xml" Id="R52c72d9c137246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b3b294bdd24803" /><Relationship Type="http://schemas.openxmlformats.org/officeDocument/2006/relationships/notesMaster" Target="/ppt/notesMasters/notesMaster1.xml" Id="R3b077c8830b248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face7d7ce94126" /><Relationship Type="http://schemas.openxmlformats.org/officeDocument/2006/relationships/notesMaster" Target="/ppt/notesMasters/notesMaster1.xml" Id="R9358d1f21feb45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c4cae5d23649ed" /><Relationship Type="http://schemas.openxmlformats.org/officeDocument/2006/relationships/notesMaster" Target="/ppt/notesMasters/notesMaster1.xml" Id="R078396f0d85341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fc3297fa714d84" /><Relationship Type="http://schemas.openxmlformats.org/officeDocument/2006/relationships/notesMaster" Target="/ppt/notesMasters/notesMaster1.xml" Id="R5f0f0fea780a48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8fca4dc3a247a1" /><Relationship Type="http://schemas.openxmlformats.org/officeDocument/2006/relationships/notesMaster" Target="/ppt/notesMasters/notesMaster1.xml" Id="R5f144e85805a40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9e0e084ee84eef" /><Relationship Type="http://schemas.openxmlformats.org/officeDocument/2006/relationships/notesMaster" Target="/ppt/notesMasters/notesMaster1.xml" Id="R28f5161cabbd40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71924b71854020" /><Relationship Type="http://schemas.openxmlformats.org/officeDocument/2006/relationships/notesMaster" Target="/ppt/notesMasters/notesMaster1.xml" Id="Rf94d3f77c0eb4b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c8c0aa02ca40ff" /><Relationship Type="http://schemas.openxmlformats.org/officeDocument/2006/relationships/notesMaster" Target="/ppt/notesMasters/notesMaster1.xml" Id="R7e2cc32e5bbe42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d17de987144334" /><Relationship Type="http://schemas.openxmlformats.org/officeDocument/2006/relationships/notesMaster" Target="/ppt/notesMasters/notesMaster1.xml" Id="R72eca46e0a094d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92a730086240c7" /><Relationship Type="http://schemas.openxmlformats.org/officeDocument/2006/relationships/notesMaster" Target="/ppt/notesMasters/notesMaster1.xml" Id="R5be81badd4714d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d7228fed5e4f72" /><Relationship Type="http://schemas.openxmlformats.org/officeDocument/2006/relationships/notesMaster" Target="/ppt/notesMasters/notesMaster1.xml" Id="Rf2724f1409b848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4b1afd065b47e1" /><Relationship Type="http://schemas.openxmlformats.org/officeDocument/2006/relationships/notesMaster" Target="/ppt/notesMasters/notesMaster1.xml" Id="Rc0eefa7a7ae64a0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fb31cb108a41f5" /><Relationship Type="http://schemas.openxmlformats.org/officeDocument/2006/relationships/notesMaster" Target="/ppt/notesMasters/notesMaster1.xml" Id="R186305086f964a7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3790dbb2b924720" /><Relationship Type="http://schemas.openxmlformats.org/officeDocument/2006/relationships/notesMaster" Target="/ppt/notesMasters/notesMaster1.xml" Id="R89e1faf808bb44a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ca46aacaaf46cb" /><Relationship Type="http://schemas.openxmlformats.org/officeDocument/2006/relationships/notesMaster" Target="/ppt/notesMasters/notesMaster1.xml" Id="R0eb45d13aa1e479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5c06160feca4176" /><Relationship Type="http://schemas.openxmlformats.org/officeDocument/2006/relationships/notesMaster" Target="/ppt/notesMasters/notesMaster1.xml" Id="Rda49a51a5d4a4b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主要資料來源為環境部 AQX_P_488：https://data.moenv.gov.tw/dataset/detail/aqx_p_488。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WHO 2025 reports that air-pollution exposure is associated with nearly one in eight deaths globally: https://www.who.int/publications/i/item/B09461. Taiwan MOENV hourly historical data: https://data.moenv.gov.tw/dataset/detail/aqx_p_488.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研究問題與限制是本提案的操作定義，將透過文獻回顧與資料盤點驗證。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資料來源：MOENV AQX_P_488 https://data.moenv.gov.tw/dataset/detail/aqx_p_488；即時資料 AQX_P_432 https://data.moenv.gov.tw/dataset/detail/aqx_p_432。圖表由清理後資料中 SiteId 2（新北市汐止站）逐時 AQI 計算月平均；期間為 2026-01 至 2026-10，10 月截至 10/29 16:00。月平均依序為 55.0、57.4、53.7、57.4、49.6、47.4、40.2、39.6、45.5、48.6；有效小時數依序為 744、672、743、719、743、716、742、692、720、689。這是描述性資料示例，不能推論因果或全年季節趨勢。清理鍵值為 SiteId + DataCreationDate；13 組衝突鍵隔離。資料 IoT 延伸來源：MOENV air-pollution sensing IoT https://env.moenv.gov.tw/en/Issue/Index/53b6ae55-bb69-449e-953e-01c2330ca3b8。API key、歷史資料保存和查詢限制仍需實測。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 et al. Neuro-Air (2026), https://www.nature.com/articles/s44407-026-00102-4. Anomaly work DOI 10.1109/ACCESS.2025.3604216. Yenkikar et al. DOI 10.1016/j.mex.2025.103517. Taiwan forecast Lee et al. DOI 10.1038/s41598-020-61151-7. Sensor work: Tzeng et al. DOI 10.1111/biom.13819; Dong et al. DOI 10.1016/j.scitotenv.2025.179364; Fang et al. DOI 10.1016/j.scitotenv.2025.180106; Lekamge and Oswin DOI 10.1038/s41612-025-01115-8.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Gap is a hypothesis, not a verified claim. Confirm after systematic review of air-quality dashboards, retrieval-grounded agents, and sensor data quality studies.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流程為提案設計。風險與健康用語會依權威領域資料進一步校對。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資料來源與欄位見研究文件及 DESIGN.md。SensorThings API 資料對應須先完成驗證。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Flow is the intended MVP interaction. The agent may ask a follow-up if location/time cannot be resolved; it should never conceal missing or stale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Pseudocode is intentionally model-agnostic; final algorithm and baseline will depend on historical data coverage and team capacity.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 protocol is proposed, not executed. See slide 16 and Proposal.md.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references appear in Proposal.md. The proposed evaluation has not yet been executed.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MOENV AQI method: https://air.moenv.gov.tw/envtopics/AirQuality_1.aspx. WHO AQG: https://www.who.int/publications/i/item/9789240034228. Site representativeness and sensor siting: https://www.epa.gov/air-sensor-toolbox/guide-siting-and-installing-air-sensors.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Dong et al. (2025) DOI 10.1016/j.scitotenv.2025.179364; Fang et al. (2025) DOI 10.1016/j.scitotenv.2025.180106; Neuro-Air (2026) https://www.nature.com/articles/s44407-026-00102-4.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full proposal documents these research questions as a review checklist, not as completed findings.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See evaluation matrix in Proposal.md. Results are not yet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Additional domain sources: Dong et al. (2025), doi:10.1016/j.scitotenv.2025.179364; Fang et al. (2025), doi:10.1016/j.scitotenv.2025.180106; Lekamge and Oswin (2025), doi:10.1038/s41612-025-01115-8. URLs are listed in Proposal.md.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549a73938a40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3a0b82b12b40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0384a0257f42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45bc75ff744c1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191ed4b31f4db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757192371d44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23B909-631D-4161-B3A3-F4918C3913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FD3C438-3751-4C14-8560-63F96E77B4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BF65F62-E0AB-4C79-891F-A2F34BEC93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78266F-6B22-48E2-A120-7F78F1E7AF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165AC3F-A760-44C4-A93B-19340CF701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0BA613E-B061-4162-96D1-02EFC3B468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1A8418-E661-4613-B363-79053FB9EA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0F64117-0937-4DF4-A0BD-A5318AAD8B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65D76F-1CD0-4138-AB90-B8A91336DF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C0F06E-0CFB-4405-BB78-C33821A7EF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7b4ddde2454ade" /><Relationship Type="http://schemas.openxmlformats.org/officeDocument/2006/relationships/slideLayout" Target="/ppt/slideLayouts/slideLayout1.xml" Id="Rd2347344aeb046ca" /><Relationship Type="http://schemas.openxmlformats.org/officeDocument/2006/relationships/slideLayout" Target="/ppt/slideLayouts/slideLayout2.xml" Id="R83b5b937dac5481b" /><Relationship Type="http://schemas.openxmlformats.org/officeDocument/2006/relationships/slideLayout" Target="/ppt/slideLayouts/slideLayout3.xml" Id="Rffc3628a731247c4" /><Relationship Type="http://schemas.openxmlformats.org/officeDocument/2006/relationships/slideLayout" Target="/ppt/slideLayouts/slideLayout4.xml" Id="R54f2943a76644ba7" /><Relationship Type="http://schemas.openxmlformats.org/officeDocument/2006/relationships/slideLayout" Target="/ppt/slideLayouts/slideLayout5.xml" Id="Rca9d791e668e4e47" /><Relationship Type="http://schemas.openxmlformats.org/officeDocument/2006/relationships/slideLayout" Target="/ppt/slideLayouts/slideLayout6.xml" Id="Rbc76040bff1541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347344aeb046ca"/>
    <p:sldLayoutId xmlns:r="http://schemas.openxmlformats.org/officeDocument/2006/relationships" id="2147483650" r:id="R83b5b937dac5481b"/>
    <p:sldLayoutId xmlns:r="http://schemas.openxmlformats.org/officeDocument/2006/relationships" id="2147483651" r:id="Rffc3628a731247c4"/>
    <p:sldLayoutId xmlns:r="http://schemas.openxmlformats.org/officeDocument/2006/relationships" id="2147483652" r:id="R54f2943a76644ba7"/>
    <p:sldLayoutId xmlns:r="http://schemas.openxmlformats.org/officeDocument/2006/relationships" id="2147483653" r:id="Rca9d791e668e4e47"/>
    <p:sldLayoutId xmlns:r="http://schemas.openxmlformats.org/officeDocument/2006/relationships" id="2147483654" r:id="Rbc76040bff1541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075f3680a749e8" /><Relationship Type="http://schemas.openxmlformats.org/officeDocument/2006/relationships/notesSlide" Target="/ppt/notesSlides/notesSlide1.xml" Id="R292af54ced2841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57dbd831c44205" /><Relationship Type="http://schemas.openxmlformats.org/officeDocument/2006/relationships/notesSlide" Target="/ppt/notesSlides/notesSlide2.xml" Id="Rd0d7b5856b9c40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009f8419de4c31" /><Relationship Type="http://schemas.openxmlformats.org/officeDocument/2006/relationships/notesSlide" Target="/ppt/notesSlides/notesSlide3.xml" Id="Rd37b506afc9b43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81a133a6de40b4" /><Relationship Type="http://schemas.openxmlformats.org/officeDocument/2006/relationships/notesSlide" Target="/ppt/notesSlides/notesSlide4.xml" Id="Rf6ce0d3207f04e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8c730db4f74b9e" /><Relationship Type="http://schemas.openxmlformats.org/officeDocument/2006/relationships/notesSlide" Target="/ppt/notesSlides/notesSlide5.xml" Id="Rd9901d0c474c45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d59144c7074e55" /><Relationship Type="http://schemas.openxmlformats.org/officeDocument/2006/relationships/notesSlide" Target="/ppt/notesSlides/notesSlide6.xml" Id="R2c40d3ff0ad646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bc7fd77d7c49af" /><Relationship Type="http://schemas.openxmlformats.org/officeDocument/2006/relationships/notesSlide" Target="/ppt/notesSlides/notesSlide7.xml" Id="R144519dffdfc4d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074ce0471c48a1" /><Relationship Type="http://schemas.openxmlformats.org/officeDocument/2006/relationships/notesSlide" Target="/ppt/notesSlides/notesSlide8.xml" Id="R5fd07c75c45249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d0159506384717" /><Relationship Type="http://schemas.openxmlformats.org/officeDocument/2006/relationships/notesSlide" Target="/ppt/notesSlides/notesSlide9.xml" Id="Rbbc2f34b55e644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af68eea2344af0" /><Relationship Type="http://schemas.openxmlformats.org/officeDocument/2006/relationships/notesSlide" Target="/ppt/notesSlides/notesSlide10.xml" Id="Rede88a3a401b4f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b451856617434f" /><Relationship Type="http://schemas.openxmlformats.org/officeDocument/2006/relationships/notesSlide" Target="/ppt/notesSlides/notesSlide11.xml" Id="Ra1c54403fa6f43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89ad66da144d6d" /><Relationship Type="http://schemas.openxmlformats.org/officeDocument/2006/relationships/notesSlide" Target="/ppt/notesSlides/notesSlide12.xml" Id="Rd095812508da41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d129b0214b4e43" /><Relationship Type="http://schemas.openxmlformats.org/officeDocument/2006/relationships/notesSlide" Target="/ppt/notesSlides/notesSlide13.xml" Id="R39f79959fce147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817c6e5c2d4e48" /><Relationship Type="http://schemas.openxmlformats.org/officeDocument/2006/relationships/notesSlide" Target="/ppt/notesSlides/notesSlide14.xml" Id="Ree0866d12dcf463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6615b0a205434b" /><Relationship Type="http://schemas.openxmlformats.org/officeDocument/2006/relationships/notesSlide" Target="/ppt/notesSlides/notesSlide15.xml" Id="R1b29ed96188e4d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1da1375d7f4f26" /><Relationship Type="http://schemas.openxmlformats.org/officeDocument/2006/relationships/notesSlide" Target="/ppt/notesSlides/notesSlide16.xml" Id="Ra3479af7e8174c9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91e86ae76e4304" /><Relationship Type="http://schemas.openxmlformats.org/officeDocument/2006/relationships/notesSlide" Target="/ppt/notesSlides/notesSlide17.xml" Id="Rb31fc781f95348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C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D8614-96A4-4143-9D31-86D17C31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D73AD-ADD3-4522-A4FF-89851E92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9144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6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0FE0D-35EF-4AE7-B9DA-D79C092D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19275"/>
            <a:ext cx="2143125" cy="2143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8E74B-0F89-41C9-BCD9-6C77ABAE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0507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8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8071C-16EA-4085-A7E6-CCA60B2D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952500" cy="476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F08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5257F-5FD9-408F-8304-A38F449A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58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rPr>
              <a:t>FINAL PROJECT  /  PROPOSAL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7F8D6-7F4A-47DC-A478-6BFC7AF9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7000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台灣空氣品質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證據分析代理人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E4CB4-5749-4345-9FC4-C077F160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00" b="0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rPr>
              <a:t>Taiwan Air Quality Evidence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3AA6E-67AC-4F74-94C6-B9C2B312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以逐時監測資料解讀污染事件、趨勢與站點差異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8C835-A853-43FB-99EF-EC35972C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531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B8C9D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1">
                <a:solidFill>
                  <a:srgbClr val="B8C9D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1">
                <a:solidFill>
                  <a:srgbClr val="B8C9D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1">
                <a:solidFill>
                  <a:srgbClr val="B8C9D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1">
                <a:solidFill>
                  <a:srgbClr val="B8C9D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1">
                <a:solidFill>
                  <a:srgbClr val="B8C9D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1">
                <a:solidFill>
                  <a:srgbClr val="B8C9D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1">
                <a:solidFill>
                  <a:srgbClr val="B8C9D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1">
                <a:solidFill>
                  <a:srgbClr val="B8C9D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1">
                <a:solidFill>
                  <a:srgbClr val="B8C9D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B8C9D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8C9D7"/>
                </a:solidFill>
                <a:latin typeface="Microsoft JhengHei"/>
                <a:ea typeface="Microsoft JhengHei"/>
                <a:cs typeface="Microsoft JhengHei"/>
              </a:rPr>
              <a:t>PROPOSAL  ·  2026</a:t>
            </a:r>
          </a:p>
        </p:txBody>
      </p:sp>
    </p:spTree>
    <p:extLst>
      <p:ext uri="{BB962C8B-B14F-4D97-AF65-F5344CB8AC3E}">
        <p14:creationId xmlns:p14="http://schemas.microsoft.com/office/powerpoint/2010/main" val="20935893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568CE3-16A4-4833-85E2-262FB7EC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719F4-3751-498B-86C6-8031E97A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58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F38DD-5D66-4E75-8FF8-36422ED6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rPr>
              <a:t>FIELD STUDY  /  AIR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0C56B-FEC5-422A-B2AD-819937DF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研究動機｜資料很多，解讀仍需要脈絡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34D12-131D-46B0-9720-A58DC6C1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rPr>
              <a:t>從可查詢的監測值，走向可追溯的事件解讀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B4D99-A8A5-4D12-8326-84DB8779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109347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39DE0-CBC2-4462-9038-537711B8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TAIWAN AIR QUALITY EVIDENCE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81579-CF90-4581-88FD-2229823D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F6C16-EA4D-419C-A823-0CD11E32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逐時官方資料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FC1D2-4110-4CD5-B8B8-2BF900AA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AQI、污染物、風場、座標、發布時間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D2AA0-B603-4275-85CA-219FD89D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24375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7CF68-774A-4577-AEE8-D6560B81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1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使用者真正想知道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5FD05-E174-4A96-AB08-32232343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8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B91D7-3068-4E26-B507-1DE66F93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47339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哪個污染物帶動指標變化？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D324C-3214-42EF-A9A2-B48DC2B6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8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EA7EE5-4809-418C-9230-93BB77D4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67225"/>
            <a:ext cx="47339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附近測站是否也出現相同變化？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4E79F5-0D5C-4F90-AD2E-EC7F6583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33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8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2CA263-5999-4B99-ACCC-68B9EE2B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47339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資料有多新、能支持什麼結論？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0CFFC2-E967-4A87-86E7-18C67D61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66875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53319D-B699-4A74-90B9-7A175442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約 1/8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27BC4C-F3B7-4FE6-BAFB-EA074134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24150"/>
            <a:ext cx="3476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全球死亡與空污暴露相關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4143C1-A6B0-42E7-B570-7E59179E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WHO 2025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82C614-3DBA-4AAD-ADB5-F030BE39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719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台灣逐時站點資料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7B083B-9A8F-4A23-8B83-64451918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814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可以追查地點、污染物與時間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BD844D-9BE7-4922-95AF-FB5A0B7E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1975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目標：把觀測值轉成可核對的解讀</a:t>
            </a:r>
          </a:p>
        </p:txBody>
      </p:sp>
    </p:spTree>
    <p:extLst>
      <p:ext uri="{BB962C8B-B14F-4D97-AF65-F5344CB8AC3E}">
        <p14:creationId xmlns:p14="http://schemas.microsoft.com/office/powerpoint/2010/main" val="18897594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F49BC3-A408-4C41-A73A-55CFDF3E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BE524-BE00-4AC6-84DC-109E1806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58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F194F-DC69-4230-95E2-9788DBAB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rPr>
              <a:t>FIELD STUDY  /  AIR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F584D-40CB-404B-8098-9B96AA2E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問題定義｜讓空品回答可核對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F54A7-65B5-4198-812D-353DE9F5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rPr>
              <a:t>聚焦地點、時間、污染物與證據來源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79C02-621F-4759-8612-0E48E633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109347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77B1A-3FAC-4D94-91C1-50DA1EAC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TAIWAN AIR QUALITY EVIDENCE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9B4C7-22C8-4697-B07D-9C470CEE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C5DE4-835B-47F2-9FC6-C432B8A1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478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研究問題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7D2EB-FF60-4FA7-B4E8-6A4FB883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5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5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5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5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5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5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5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5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5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給定一個地點與時間範圍，系統如何把公開監測值轉成可理解、可追溯的說明？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00950-2FED-4675-B1CE-505FA626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48F8E1-6DA4-4B23-B701-5846A179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F03BA-47F1-44B6-80FB-2E422DC7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觀測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176DE-CA3F-455E-953B-C0698C42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AQI 可能概括了多種污染物；單一數值未必說明變化原因。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8F0E7C-BBBB-4B82-9379-7E9D8CA3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909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A1230B-5F83-4F41-8189-0DC2B797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909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7FBAB-89D0-47C2-B4E9-9F673129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338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比較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3B7090-C590-4B9B-8CD4-3364A7E9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338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測站資料有時間差、缺漏與地理差異，需要對齊後才適合比較。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31E02A-7D76-442D-AE3D-CDF03FAF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909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213A0A-07E3-46C9-8EB2-CC8D8738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909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D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A1C80A-EF39-4D0F-B10B-1F50A845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338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表達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0347E9-67F4-4628-9498-CC263D34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338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回答必須區分觀測事實、分析推論與資料不足之處。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AFEE65-A6D3-4AB4-8072-27E3D087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目標使用者：需要快速理解台灣特定地區空品變化的一般使用者與課堂評估者</a:t>
            </a:r>
          </a:p>
        </p:txBody>
      </p:sp>
    </p:spTree>
    <p:extLst>
      <p:ext uri="{BB962C8B-B14F-4D97-AF65-F5344CB8AC3E}">
        <p14:creationId xmlns:p14="http://schemas.microsoft.com/office/powerpoint/2010/main" val="12778205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3FF85FE-5723-4218-9B53-96B35855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0D2A6-902A-4F4B-8EE9-111C884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58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B4CA4-39DE-4E6E-8796-98FBF9E9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rPr>
              <a:t>FIELD STUDY  /  AIR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1244F-05E3-47A0-ADC1-B31DC764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資料基礎｜已完成第一輪資料清理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93C03-53E3-4794-96BB-80BFD165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rPr>
              <a:t>AQX_P_488 歷史逐時資料｜目前下載範圍為 2026-01-01 至 2026-10-29 16:00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6A42E-897C-4C07-BB3D-F49B108E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109347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BCA79-1C44-4A57-A324-364E04B7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TAIWAN AIR QUALITY EVIDENCE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3E6DA-780E-4577-A22B-B566E1B3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5A811-2074-4DB3-AD55-EA76E17C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954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資料稽核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F9182-6EAB-469F-A663-561452E8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33575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CAE48-5B95-4087-B006-89713A5C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9775"/>
            <a:ext cx="209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970,296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9FAFB-468E-4562-88E6-85F03449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1935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原始觀測列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71949-7291-4CBA-9B89-46A8119C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33575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500E63-DAA8-4F5F-A22E-99035913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09775"/>
            <a:ext cx="209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606,137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2D3EDA-2663-4ACD-A2BF-58A200E8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1935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清理後保留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7C691A-90E5-4474-ABBF-DF1940AF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33575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9F3D99-D795-4EC1-9FC1-BF451D22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09775"/>
            <a:ext cx="209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88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43364D-1309-4428-B57F-1442ACF2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1935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測站編號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DC337-8E1C-493A-9E07-322FD390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33575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FB24AE-43A1-491F-A5A8-FCA360DE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09775"/>
            <a:ext cx="209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1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0281B7-0C3F-4698-8F3B-73D86F25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41935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衝突鍵隔離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37C270-2FB6-4C02-B2E1-722DE3A6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337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汐止站｜2026 月平均 AQI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3CC781-FE1D-47C9-ADC2-84924842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527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描述性示例，不代表全年趨勢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256910-3796-420D-8445-B6CF84EF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38775"/>
            <a:ext cx="66675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CF52D8-AFD4-429B-B53E-26F8BF62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00525"/>
            <a:ext cx="447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CEF2CC-E961-4371-B03B-680F9F99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9624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55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85E42C-5FA0-4D54-A071-0EF440F3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5149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581F2D-69C0-455C-83B0-40A8EC81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086225"/>
            <a:ext cx="447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8E8B40-5790-45E6-860B-826332B7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48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57.4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1E66C1-44F3-43B3-8A32-C931C7EF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149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3D103C-E9AE-4FE0-817E-2F5E97D0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67200"/>
            <a:ext cx="44767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570B1D-3147-4E46-B672-A55B0EAC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0290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53.7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08EF3F-53F5-41F4-9475-5A2254BA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5149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98D51E-36D9-4286-B20C-E16D27DE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086225"/>
            <a:ext cx="447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90423F-274E-4144-988E-2A0DCA23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48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57.4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96D350-91DD-4903-8E7A-575DB0F5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149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6B09D3-B9C6-4A7C-B921-0045247A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67225"/>
            <a:ext cx="447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129554-445D-4C67-B08F-114E405D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229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49.6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92FECB-2887-4786-AB6E-7B63B2D4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5149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5A8C81-B37D-4530-BD41-16873F50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581525"/>
            <a:ext cx="447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614567-CD5D-49A4-93F6-A3A33661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434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47.4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EB5D4D-5645-4A60-9423-BB41354E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5149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0F47FE-4EBD-47E5-99BC-4382E695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33950"/>
            <a:ext cx="447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D7917C-4A71-4B1E-A7DD-501E4EA6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958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40.2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74CACA-C039-4A8E-AFD2-1CAFC656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5149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E2DE30-B8AC-4015-91BD-80A4ACC4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962525"/>
            <a:ext cx="447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7CD8B2-3D21-4C5B-ACDD-FBB8FBFC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244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39.6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68DA23-2DED-4607-AA25-8825302A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5149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98C5A56-4BFD-465F-BB28-17A8B6B0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67250"/>
            <a:ext cx="447675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6DBC671-2597-4B14-9F01-C9EBF1D3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429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45.5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5B3B2B-8203-4A23-9A15-311BD0A5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5149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B2DEC68-8DAF-417B-9D00-2E258331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514850"/>
            <a:ext cx="4476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F38FCEE-A5DB-4F6D-ACB5-17634BA1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767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48.6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C82498D-8A8F-477F-95AD-05194945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149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9FF164-E077-4F6E-9B4A-1201F80D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671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月均值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3925086-40EA-41BA-AC6D-7D60BCBB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433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39.6–57.4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674A10C-EF2C-4AC1-8773-58D640FB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9580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10 月資料截至 10/29</a:t>
            </a:r>
          </a:p>
          <a:p xmlns:a="http://schemas.openxmlformats.org/drawingml/2006/main">
            <a:pPr>
              <a:defRPr sz="12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各月有效筆數 672–744</a:t>
            </a:r>
          </a:p>
          <a:p xmlns:a="http://schemas.openxmlformats.org/drawingml/2006/main">
            <a:pPr>
              <a:defRPr sz="12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衝突列保留在隔離清單</a:t>
            </a:r>
          </a:p>
          <a:p xmlns:a="http://schemas.openxmlformats.org/drawingml/2006/main">
            <a:pPr>
              <a:defRPr sz="12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合併鍵：站號 + 時間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F3DF25E-9F51-44D9-B164-37760C33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52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rPr>
              <a:t>資料限於目前下載範圍；月份平均為描述性統計，不能解讀為因果、全年或完整季節結論。</a:t>
            </a:r>
          </a:p>
        </p:txBody>
      </p:sp>
    </p:spTree>
    <p:extLst>
      <p:ext uri="{BB962C8B-B14F-4D97-AF65-F5344CB8AC3E}">
        <p14:creationId xmlns:p14="http://schemas.microsoft.com/office/powerpoint/2010/main" val="9448396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465A54-A0C3-4112-97D5-5757ECFB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A3128-C9B4-4C82-8DF2-F5794F20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58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D1CD9-F837-4F1B-9E75-AA653D24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rPr>
              <a:t>FIELD STUDY  /  AIR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6FB58-9388-4722-8FC2-BC23D7AF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相關研究｜方法之外，也要理解量測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E5A1B-495B-4504-AAA5-3A579604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rPr>
              <a:t>AI 技術與空品領域知識各占一半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12905-5018-41F4-886E-80E06302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109347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30B99-DB04-46B0-9B55-429069D8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TAIWAN AIR QUALITY EVIDENCE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68913-18FE-4B58-8F3C-5D6D440B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D14B5-9377-4BD8-AA86-31D0EB1E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50482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A2371-8C79-4CAF-9D84-78297C73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6667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C35BB-C2D9-46A8-B45B-B69216A6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04975"/>
            <a:ext cx="4619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多代理分析｜Neuro-Air (2026)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E2806-D1AB-40C2-B5D0-0F746B8A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57400"/>
            <a:ext cx="461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香港、河北；317 題（含 90 題可程式驗證）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B18DD-43E1-4F01-835C-8A820827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71725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展示多來源分析流程；未測台灣 AQX_P_488 問答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A1E8A-974C-4860-A333-D5F4378B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562100"/>
            <a:ext cx="50482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7AC81-EE54-4357-85C9-8362E4EA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562100"/>
            <a:ext cx="6667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D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3127E4-97FF-490D-B0C7-1FC430E3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04975"/>
            <a:ext cx="4619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rPr>
              <a:t>異常偵測｜IEEE Access (2025)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6D2927-ED67-40E5-847B-117047C0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461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鄰站 DTW / Z-score + 時序切片 + LLM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C42B52-19CB-4176-8260-B553929D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71725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研究報告 false positive rate 降逾 50%；任務不是問答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39ED1A-246D-4032-A5C1-D00A61B3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50482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579D4E-0D57-4EA5-BCC3-1E514F5D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6667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802A08-7C84-41A7-9FFE-28094926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09925"/>
            <a:ext cx="4619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台灣預測｜Lee et al. (2020)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77D9A7-4532-4718-B011-724137AA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62350"/>
            <a:ext cx="461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77 個空品站、580 個氣象站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700DD7-01A3-4E76-831D-1823AA7A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76675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台中加入電廠排放特徵後，平均 R² 0.58 → 0.71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49087F-6A06-4031-86DC-26888265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067050"/>
            <a:ext cx="50482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C60AEC-F18D-4565-B7B7-BBF826C1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067050"/>
            <a:ext cx="6667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F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DBAA65-65E5-4223-BBDE-68832109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9925"/>
            <a:ext cx="4619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rPr>
              <a:t>感測器校正｜AirBox / 2025 studies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B97015-1642-442C-9B1F-EAEBF7A1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62350"/>
            <a:ext cx="461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空間校正、濕度、部署時間與共置驗證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942F36-4517-4C51-B6C1-3AF73CFA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76675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感測值需看站點與校正條件；不可直接等同官方 AQI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C71D3F-E476-4F06-8576-BEAF2D0E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429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E08EB5-3FA0-4846-B3B3-465A5341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33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本研究定位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DDFEC7-C52B-4E0A-B2A8-89F709E9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914900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不主張首創 Agent；聚焦台灣 AQX_P_488 地點／時間問答，檢查數值是否正確、來源能否逐項回連，以及資料不足時能否適當限制回答。</a:t>
            </a:r>
          </a:p>
        </p:txBody>
      </p:sp>
    </p:spTree>
    <p:extLst>
      <p:ext uri="{BB962C8B-B14F-4D97-AF65-F5344CB8AC3E}">
        <p14:creationId xmlns:p14="http://schemas.microsoft.com/office/powerpoint/2010/main" val="852507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C99832-8D0D-42B9-BAE5-E06D46DB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E8DFE-D609-43F3-B8B8-4F5B2D3F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58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FB0F7-CA64-42C9-AE60-669EBB56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rPr>
              <a:t>FIELD STUDY  /  AIR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429C3-3C3A-4EFE-A987-4E538CA7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研究缺口｜把數值分析與回答責任接起來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184BF-A6E1-4D1C-80B8-91F478DE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rPr>
              <a:t>本提案的缺口仍是待文獻系統性確認的研究假設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91F16-8DEC-4E9D-9A35-EDF5E6C0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109347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00266-CA59-4EDA-8046-C31494C4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TAIWAN AIR QUALITY EVIDENCE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77361-C513-4A67-9946-78ABE328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7447D-72F2-47C5-A7AC-F03FE8F7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現有能力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C1D8D-80F1-4C1C-8C1F-38398E58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官方測站資料與</a:t>
            </a:r>
          </a:p>
          <a:p xmlns:a="http://schemas.openxmlformats.org/drawingml/2006/main">
            <a: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感測網路各自提供觀測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25A4C-B27B-4966-B5D8-0F2E0493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384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EA4D5-5A61-4E36-A97B-4971380F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尚待處理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F65AAF-2FA7-43B1-A609-622AF947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資料品質、時間差、</a:t>
            </a:r>
          </a:p>
          <a:p xmlns:a="http://schemas.openxmlformats.org/drawingml/2006/main">
            <a: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污染物脈絡需一併呈現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86832-5A71-461F-80F3-CEAEB72D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384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179926-D7C0-4FC6-909C-AE64983F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本專題補足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CEA9A7-45FE-49CA-AFE8-8F6B04A4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Agent 對每項結論附</a:t>
            </a:r>
          </a:p>
          <a:p xmlns:a="http://schemas.openxmlformats.org/drawingml/2006/main">
            <a: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測站、時間與數值證據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10DE7-C23C-41D3-A5C1-971E6010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384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8AC506-D55A-465A-B0A6-858A54B7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如何驗證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36D05B-EE23-4B45-97CF-EFD43F33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人工核對來源與數值；</a:t>
            </a:r>
          </a:p>
          <a:p xmlns:a="http://schemas.openxmlformats.org/drawingml/2006/main">
            <a:pPr>
              <a:def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比較透明的簡單基準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C63274-2EBB-43C7-B43C-2794A3E2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0572750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9880F9-F44B-4F3B-A7A1-B17E2B88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7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Research gap（暫定）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D0F6DB-8611-483C-BF03-CF2C440B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缺少一套針對台灣公開空品資料、同時呈現來源可追溯性、時間/站點脈絡與不確定性，並用明確基準評估的互動式解讀流程。</a:t>
            </a:r>
          </a:p>
        </p:txBody>
      </p:sp>
    </p:spTree>
    <p:extLst>
      <p:ext uri="{BB962C8B-B14F-4D97-AF65-F5344CB8AC3E}">
        <p14:creationId xmlns:p14="http://schemas.microsoft.com/office/powerpoint/2010/main" val="17602477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16D70F-B927-4E67-AC7C-9FA30529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40367-3BB2-4B54-A5F9-044ACA84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58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BB6A6-EA73-4C50-9922-66522BEE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rPr>
              <a:t>FIELD STUDY  /  AIR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7CF8A-51B7-4776-A7D0-6A89F4E5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Agent 設計｜問題拆解後才選工具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812A0-ECE6-4D68-B9FD-BED9CA1B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rPr>
              <a:t>生成式模型負責理解與表達；數值由資料工具計算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BBA50-93CE-4B5B-9096-4AA26F64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109347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B18D4-E6FF-47AB-AA9E-5225571D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TAIWAN AIR QUALITY EVIDENCE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318E2-86E1-44E4-A73D-27C3146D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014DE-A704-44FA-A474-E23373C8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AE019-1284-4176-BFDE-1C6BEB5C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EE36C-C4D3-44F0-8144-F08CD15B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判斷意圖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E5ED1-ED64-435D-B149-71CAB430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趨勢 / 比較 / 事件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9E53F-8A5D-4D08-B19A-CBD9FFA8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133600"/>
            <a:ext cx="6381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F5BE5-6016-4E3A-999F-B4AB24E1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9677C-E7BA-407D-AE4E-A8897681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DFED0-E681-4FCE-84C0-D6DC16E0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取回資料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6AD30-2ADA-462A-9C10-13CAA386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測站、時間窗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43B92E-B926-455B-8A6D-B7F80750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33600"/>
            <a:ext cx="6381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4AF27B-72A1-4382-BEFD-3C9E3AF9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FC17F0-1408-4370-949B-F4BDE1A4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683A05-BC41-4476-A7DA-540B9135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檢查品質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45B475-0701-40D1-975B-87C3C6A0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缺漏、延遲、單位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F59E0-A479-4E07-8A07-416AF84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33600"/>
            <a:ext cx="6381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F681DF-D821-4DA7-ADF0-90AF47C0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5EE06A-5C0F-472C-A720-1A26C80B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7273AB-B1CA-4249-BE59-2EBC29CC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執行分析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7BDF6B-176D-4BFD-BEAE-5042C549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變化、基準、差異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382433-273D-4795-A189-97B6A726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33600"/>
            <a:ext cx="6381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982194-CF86-42AE-B6C5-E5FAA0F0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1504BF-184C-4650-81F0-F91ED287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1471EB-B9AC-4573-AB91-85CDFBD0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組合證據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A6DC44-C3BD-4158-9DB9-8E316390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污染物 + 領域規則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DDFEF7-3C56-4288-8F26-E716305D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33600"/>
            <a:ext cx="6381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526CA4-743E-4A2C-8AD5-B4EE5FB6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8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A6B871-F059-4228-8E8B-16EE254A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9F2A81-B428-4B3C-946E-8AC7A125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回答核對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2E6251-E3B0-4B50-A466-8BB99940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來源、限制、不確定性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A35C02-13A1-49EE-B1D6-D834D073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10610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C06CEC-7C1E-4D5D-A905-048D5504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安全邊界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34D175-6CC5-479D-8224-FEE9F22E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7197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7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不推定污染來源、不診斷個人健康、不輸出沒有來源記錄支撐的數值。</a:t>
            </a:r>
          </a:p>
        </p:txBody>
      </p:sp>
    </p:spTree>
    <p:extLst>
      <p:ext uri="{BB962C8B-B14F-4D97-AF65-F5344CB8AC3E}">
        <p14:creationId xmlns:p14="http://schemas.microsoft.com/office/powerpoint/2010/main" val="3731914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7E3C0E-747B-4714-9275-7FD1857F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CFC70-D4EB-4BCE-BC5D-C455E154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58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EA335-2F67-4056-B944-FB245965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rPr>
              <a:t>FIELD STUDY  /  AIR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F377F-58FB-454C-8546-D8FF57D1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System Architecture｜資料、分析與領域規則分層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CA6B1-1E2B-4A49-BBCC-21CC8539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rPr>
              <a:t>方塊代表可實作模組；IoT 來源為條件式擴充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4E35A-91F7-411F-BDEE-3ED84907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109347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6E540-A5BC-4B02-9210-0C59B75F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TAIWAN AIR QUALITY EVIDENCE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63DB6-711A-446A-9C87-349FFE08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57B52-89E8-424D-B3F4-801AF8E4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52625"/>
            <a:ext cx="2524125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A390D-C906-477C-BCBC-F59B3528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52625"/>
            <a:ext cx="2524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F6065-F423-4587-8392-0A9FDE66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01｜理解問題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47B81F-DF05-4977-9ACD-8E191C7D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Planner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058638-C98B-44FB-A105-8E1C30D5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0375"/>
            <a:ext cx="2219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地點、時間、分析意圖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F68F2-2EF7-4C5B-90E1-21174D00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0507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2545D-1893-4075-8E48-8ADEB1FD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52625"/>
            <a:ext cx="2524125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6A3734-19E6-4134-8546-813A0F1D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52625"/>
            <a:ext cx="2524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D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A02B0-B6D2-430B-B0E7-2C342AA2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90750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02｜取得證據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E26C0F-6D1E-40B4-814B-F2B6A713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71750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Retrieval + Data QA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ED511A-C933-4B1B-B036-BA11543C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00375"/>
            <a:ext cx="2219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AQX_P_488 查詢、時間對齊、缺漏與衝突檢查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28AF7-436F-4D60-8C4D-DD6D87AF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0507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BC6387-8807-48BA-A119-E1DA16F7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2524125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A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0A16BC-07C7-406F-8D96-BA5581EA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2524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6E4874-3A57-45D1-AF51-510DE37B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03｜計算與校核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1B1FD0-0278-48F4-B030-103E3911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9692"/>
          </a:bodyPr>
          <a:lstStyle xmlns:a="http://schemas.openxmlformats.org/drawingml/2006/main">
            <a:def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Analytics + Domain Rules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B3568E-42FF-4E5C-B796-363B9B23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0375"/>
            <a:ext cx="2219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趨勢／比較、AQI 解讀、數值與來源驗證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A490A3-C724-433A-9A3F-24A35BD4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0507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7C2F2A-FC7A-49C9-A6CB-18303B15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52625"/>
            <a:ext cx="2524125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31659D-B3FE-493F-88F0-D1388129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52625"/>
            <a:ext cx="2524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2FC21E-D736-4E20-B55A-3053DD52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90750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04｜組織回答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D43A25-3F4E-4DB3-A0A8-DE69633B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71750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Evidence +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D43EB6-C381-46F2-82D8-B3E3DCDF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00375"/>
            <a:ext cx="2219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主張逐項回連；附上不確定性與資料限制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A34437-6FA6-4E74-952A-08CC3A05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資料來源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4D6832-AED5-4290-BA83-FE628562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4953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2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37EFA3-CA4E-4810-AD2C-9D307C2C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91025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rPr>
              <a:t>環境部 AQX_P_488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CA5A28-9BDB-4CA0-9CE8-314A522B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76775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核心歷史逐時官方觀測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1E0199-508D-4911-9518-D4D58E26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67200"/>
            <a:ext cx="4953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DD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14BA73-A699-43ED-859B-962523C8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91025"/>
            <a:ext cx="447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Civil IoT 感測資料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ECED48-2C32-4794-A2A6-10C75F9A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76775"/>
            <a:ext cx="457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條件式擴充：先驗證欄位、座標與品質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A57BE3-BE5D-4A41-B74A-150CA553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10229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34C982-77BC-4D21-9F46-361B0560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38162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輸出規則｜每個數值主張附測站、時間、欄位與來源；證據不足時說明缺口。</a:t>
            </a:r>
          </a:p>
        </p:txBody>
      </p:sp>
    </p:spTree>
    <p:extLst>
      <p:ext uri="{BB962C8B-B14F-4D97-AF65-F5344CB8AC3E}">
        <p14:creationId xmlns:p14="http://schemas.microsoft.com/office/powerpoint/2010/main" val="17699610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8C0EF0-5A37-428D-9B02-423280CA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82913-FF4F-4116-A729-BBE949CC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58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65FD3-E375-4E1F-87BF-AC654589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rPr>
              <a:t>FIELD STUDY  /  AIR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4AD57-A5FE-4018-B7FC-01D7D8CD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Flowchart｜資料不足時明確回報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3A922-CCF3-4B91-BA6A-C2C273DF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rPr>
              <a:t>以例外路徑避免把缺漏資料包裝成確定答案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93CE4-5897-4CB4-B6D4-F9022AE0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109347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E0EEF-AC5F-44DE-99FE-F2907C11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TAIWAN AIR QUALITY EVIDENCE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6AD8F-6558-45C9-891A-E8B2C76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AB121-6091-45FE-AC22-900891A0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76375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F3D9E-322B-470D-B5D3-0B273279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811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收到問題 → 解析地點與時間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C91C18-5DB3-42CD-B622-9FA663EB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90725"/>
            <a:ext cx="0" cy="2952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26698-5E9B-42E6-BCBC-609AECC0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860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EEED6D-5805-4C47-AE84-F5152BEC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907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取回對應測站紀錄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394AC2-71CA-4EBF-82A8-29872D53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0350"/>
            <a:ext cx="0" cy="2952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C48773-A27F-455C-9275-7F581D0C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95625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CF4E3-C455-40EE-A98F-9819C378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004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檢查新鮮度、缺漏與時間連續性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13FB1E-F02D-4954-AECF-E1085814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9975"/>
            <a:ext cx="0" cy="2952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C2E296-FE0C-4916-BFDB-B36B30B5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0525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FD743A-E9D5-4140-8078-F86F42B8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100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執行趨勢 / 事件 / 站點比較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D304E8-2F18-4DFC-A8AA-765E27CF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19600"/>
            <a:ext cx="0" cy="2952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7459DB-DD48-48B4-BFDC-3B4B3387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14875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6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3260A8-B924-4B6D-825E-EC13D1C8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96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附證據與限制產生回答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3E32F8-46D5-4664-81E4-CD39E45F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76550"/>
            <a:ext cx="1428750" cy="9048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5E4D9"/>
          </a:solidFill>
          <a:ln xmlns:a="http://schemas.openxmlformats.org/drawingml/2006/main" w="9525">
            <a:solidFill>
              <a:srgbClr val="F08A5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771036-D37F-44C1-9972-53EA08DB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5277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資料足夠？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929CBA-BDFA-4FCA-87AE-7A3ADA89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43275"/>
            <a:ext cx="7429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F08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E74A7C-52CC-401D-94A6-60142D41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28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0AA401-B966-4AF2-980B-B033D0FB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90950"/>
            <a:ext cx="0" cy="571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64F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209C4F-7F8D-41AA-BD75-CD52301F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957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rPr>
              <a:t>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318499-A95F-4723-B858-D3D34771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81500"/>
            <a:ext cx="25717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E7"/>
          </a:solidFill>
          <a:ln xmlns:a="http://schemas.openxmlformats.org/drawingml/2006/main" w="9525">
            <a:solidFill>
              <a:srgbClr val="B64F5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448FD9-5DB4-4858-8D0F-3E89655F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457700"/>
            <a:ext cx="2190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rPr>
              <a:t>回報資料缺口</a:t>
            </a:r>
          </a:p>
          <a:p xmlns:a="http://schemas.openxmlformats.org/drawingml/2006/main">
            <a:pPr>
              <a:defRPr sz="135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rPr>
              <a:t>與最後更新時間</a:t>
            </a:r>
          </a:p>
        </p:txBody>
      </p:sp>
    </p:spTree>
    <p:extLst>
      <p:ext uri="{BB962C8B-B14F-4D97-AF65-F5344CB8AC3E}">
        <p14:creationId xmlns:p14="http://schemas.microsoft.com/office/powerpoint/2010/main" val="13033063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CF9F81-EE4A-428E-B56E-33DA5384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84445-BDE3-4805-A74A-1B2BBA50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58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05C17-AD74-4FEE-8F02-D5BFCC63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rPr>
              <a:t>FIELD STUDY  /  AIR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BF0E8-24EF-4435-A495-53B91A88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核心演算法｜每項結論都保留來源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9615C-4FCA-40B9-83C9-4C2F8C38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rPr>
              <a:t>數值分析由工具執行，LLM 不直接編造監測數值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9B1DA-A358-43F2-ABBD-99DD9E06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109347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EDAC8-09E3-43C1-A1A4-00EE5996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TAIWAN AIR QUALITY EVIDENCE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DB1B6-30F5-4125-9467-5C20EA73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6FE21-0CF9-485C-AF2A-ED8C40AC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620375" cy="450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7009E-F9FE-4F59-9972-6B22D2F6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144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C52DF-28AF-4047-BF1B-4608D623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14475"/>
            <a:ext cx="966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rPr>
              <a:t>intent, place, period, pollutant ← parse(question)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F4FF9-A7B9-47F3-9A2F-296348E8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57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FC90B-923E-4EFF-8227-6B7EA83A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57375"/>
            <a:ext cx="966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rPr>
              <a:t>stations ← select_supported_stations(place)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3A44B-2BC6-435C-98B7-F6E21ED8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02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389ABF-9FEC-4338-8702-76B269E0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0275"/>
            <a:ext cx="966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rPr>
              <a:t>records ← retrieve(stations, period)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395F9D-BFC3-4C4D-B95C-AD1FB0DE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431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1EA3D-06DC-4488-AD47-DF824570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43175"/>
            <a:ext cx="966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rPr>
              <a:t>if records empty: return source_status_and_gap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C4A1BA-6433-4DC7-974A-C2446FA1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86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BAA7EA-64F4-4BD6-9DD6-8A279FF5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86075"/>
            <a:ext cx="966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rPr>
              <a:t>records ← normalize_units_and_timestamps(records)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5E7361-81B5-4818-931A-714CCE3A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289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B91B1E-3DFB-4305-89A6-393DC143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28975"/>
            <a:ext cx="966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rPr>
              <a:t>quality ← check_missingness_duplicates_freshness(records)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7FBE31-7357-46CE-87F4-1FC4BE8A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718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2664DE-0C7E-414C-80B2-9E24857D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966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rPr>
              <a:t>if evidence insufficient: return limitation_response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318F3D-F696-4D84-A866-E8B34CE7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147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9637AD-CF1E-4F2C-B49F-0D65808A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14775"/>
            <a:ext cx="966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rPr>
              <a:t>result ← analyze_trend_event_or_station_difference(records)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563972-3E46-42F0-B9B9-E468042F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576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A8EF64-450E-46DA-9F64-DFDEB7BE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57675"/>
            <a:ext cx="966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rPr>
              <a:t>result ← compare_with_simple_baseline_if_needed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E94390-0B1C-4EF2-A2B9-BF89B81C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005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0734FA-A756-4195-95C9-C69D1EF9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00575"/>
            <a:ext cx="966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rPr>
              <a:t>claims ← apply_domain_rules_and_attach_provenance(result)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9B8B8C-CD59-4346-8361-90E9E600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434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1D7FBA-1C14-4A26-B69E-37BB4FDF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966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4F2EC"/>
                </a:solidFill>
                <a:latin typeface="Microsoft JhengHei"/>
                <a:ea typeface="Microsoft JhengHei"/>
                <a:cs typeface="Microsoft JhengHei"/>
              </a:rPr>
              <a:t>claims ← remove_or_qualify_unsupported_claims(claims)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ED19D1-575E-455D-857F-042AC3BC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86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FB9A8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3E9929-B970-453C-A6BD-4F22B04F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86375"/>
            <a:ext cx="966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rPr>
              <a:t>return answer(values, timestamps, sources, uncertainty)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47A8EB-6AD3-47FF-BE05-AA10A1B3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15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3338351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D0CEAA-B3F0-406F-9F29-4D0A1DB0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EEB60-36A6-418F-AA51-E0ADA10E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58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A9CD6-BF25-4492-8421-0D885AFB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rPr>
              <a:t>FIELD STUDY  /  AIR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3F55F-DCB1-44A4-8A6C-84794CC5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評估面向｜數值、來源與限制處理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1A16D-D507-48B4-A82E-27C74AAD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rPr>
              <a:t>指標與題庫設計見第 16 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D5BEA-C3C2-4877-9751-A76AD0DA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109347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EA0B3-56C3-4EFF-8970-7234D5C6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TAIWAN AIR QUALITY EVIDENCE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8746D-6131-4DAD-817A-6219ABE6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C375C-581A-49A0-A50F-59258CDD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32385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10C53-564D-49D1-B9C9-FCCF18CC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326F66-ACF6-4334-BA4D-B880AB6F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數值正確率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2D8F6-8424-45C4-87CF-60116EC0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7647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AQI / 濃度 / 方向符合程式參考答案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065E4-AF08-4163-BE1F-B59C6ED0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容許誤差依題型預先設定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C9F26-C677-429C-9D7F-732EB233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19250"/>
            <a:ext cx="32385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70FA6-D906-4278-8C02-468C5AFA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1925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D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B0A35A-536A-4808-94C2-E7BE03ED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47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rPr>
              <a:t>來源對應率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F935AC-9A36-4E31-BDDC-D5C756C2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7647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站點、時間、欄位與數值逐項吻合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FC60A9-A09F-4914-AAB5-9D3310D5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抽查每個可驗證主張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797A7-CBBB-46B1-9C17-0D386CF2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19250"/>
            <a:ext cx="32385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3382F3-B7F1-47E6-A8C4-C0F8D82A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1925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7D8DE7-DAB5-481B-8AAA-38360F6C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47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適當限制率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E742E1-03B5-4760-9AFA-C97262C8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7647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不足或越界題能追問、限制或拒答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921C82-D500-4A25-B1F0-A7DAE0A7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以預先標註的預期行為計分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CA5A03-0ECF-483A-9A32-FAF17E36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測試必須涵蓋的失敗情境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56BC0A-D41B-4624-B7CE-3B83CE89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31432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7D501C-25C0-4393-8421-8DB406CD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rPr>
              <a:t>資料中斷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80E095-A0EF-4418-936C-B8522194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2838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freshness / missingness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269254-9D56-47E3-9ABF-3C1FE6E3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31432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F11937-5EB8-4741-85A9-77B70F66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481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426D9B"/>
                </a:solidFill>
                <a:latin typeface="Microsoft JhengHei"/>
                <a:ea typeface="Microsoft JhengHei"/>
                <a:cs typeface="Microsoft JhengHei"/>
              </a:rPr>
              <a:t>站點衝突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523DAE-680C-40CA-8605-748CC2B5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72000"/>
            <a:ext cx="2838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重複鍵與異常值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4A03C4-AB3B-41BD-85A5-88339682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95750"/>
            <a:ext cx="31432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F7C144-43B0-4671-A5BB-243B165F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481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rPr>
              <a:t>問題越界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B973A3-37D5-45CD-B4A3-9DF7B524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72000"/>
            <a:ext cx="2838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因果歸因、醫療診斷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08907E-BBC0-4207-BC1A-1C3D5377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B64F50"/>
                </a:solidFill>
                <a:latin typeface="Microsoft JhengHei"/>
                <a:ea typeface="Microsoft JhengHei"/>
                <a:cs typeface="Microsoft JhengHei"/>
              </a:rPr>
              <a:t>Agent 尚未實作；指標是預定評估，不是已取得的結果。</a:t>
            </a:r>
          </a:p>
        </p:txBody>
      </p:sp>
    </p:spTree>
    <p:extLst>
      <p:ext uri="{BB962C8B-B14F-4D97-AF65-F5344CB8AC3E}">
        <p14:creationId xmlns:p14="http://schemas.microsoft.com/office/powerpoint/2010/main" val="1679953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6812C8-AB27-4041-AD08-4FAA91A1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7C7D5-71F6-48AB-9683-B6E30393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58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E343D-2584-4A52-A7E0-C87D0F05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rPr>
              <a:t>FIELD STUDY  /  AIR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4E293-442E-4A07-A8D5-A507D233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預期成果與後續工作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63820-5F4C-4D39-8829-9B50EAF8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rPr>
              <a:t>Proposal 階段提出研究設計；模型實驗與系統實作尚待執行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712C9-F69F-46A8-A3D1-360821F7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109347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02BB1-0596-4335-8142-A0CB50A2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TAIWAN AIR QUALITY EVIDENCE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7A9A9-1F2B-4638-BB17-20BDEA29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47DFF-F8C6-48BE-90AA-265A829F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預期成果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9CE8F-576D-48A6-A6C5-2106ABE5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00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8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1C50C-4A05-44CE-B792-40C03F6C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114550"/>
            <a:ext cx="5448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可重現的 AQX_P_488 資料整理流程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0F626-C4F8-4D88-87E5-C19F36D4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8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440DD2-024E-459B-9E08-870FF37E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95575"/>
            <a:ext cx="5448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附測站、時間與數值來源的 Agent 原型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612285-584C-4C41-B7F9-995FE350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62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8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8EC07-1E24-4476-B510-4551CBAC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76600"/>
            <a:ext cx="5448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問答正確性與證據忠實度評估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0784B2-341D-4515-A4EB-548D13A9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097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後續工作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55028-72B3-4A34-997A-CA77A12F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00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8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9F8C71-F0A8-4EBF-B98F-D660A889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14550"/>
            <a:ext cx="4114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檢查候選測站的資料連續性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80AB3C-3E72-4798-BCF5-835A6243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8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460AD9-71B5-4D5C-AC9E-ADC9D92F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95575"/>
            <a:ext cx="4114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建立固定查詢與 60 題測試集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0B323C-C60E-44C9-99B7-4649480F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62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8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2A7E03-9627-4979-A891-EBACA71A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76600"/>
            <a:ext cx="4114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實作基準方法並比較 Agent 回答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8F30FE-0CA1-49CB-9960-E2AEB198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10620375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DE3205-8112-444E-B6D8-F598C3FC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主要來源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BD0C52-87E7-420F-AD32-8AA1DFC6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1057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環境部 AQX_P_488｜歷史逐時 AQI</a:t>
            </a:r>
          </a:p>
          <a:p xmlns:a="http://schemas.openxmlformats.org/drawingml/2006/main">
            <a: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環境部 AQI 定義｜空品指標與平均時間</a:t>
            </a:r>
          </a:p>
          <a:p xmlns:a="http://schemas.openxmlformats.org/drawingml/2006/main">
            <a: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WHO (2025)｜空污暴露與健康證據</a:t>
            </a:r>
          </a:p>
          <a:p xmlns:a="http://schemas.openxmlformats.org/drawingml/2006/main">
            <a:pPr>
              <a:def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完整研究文獻與網址見 References</a:t>
            </a:r>
          </a:p>
        </p:txBody>
      </p:sp>
    </p:spTree>
    <p:extLst>
      <p:ext uri="{BB962C8B-B14F-4D97-AF65-F5344CB8AC3E}">
        <p14:creationId xmlns:p14="http://schemas.microsoft.com/office/powerpoint/2010/main" val="19023497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927D18-3F9D-47A6-ACF9-B7A18BAB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9C5F5-6D6E-4496-8830-94C44E81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58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C65E6-C7C3-4DF2-ABA8-E42F137E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rPr>
              <a:t>FIELD STUDY  /  AIR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84457-EC3D-4D56-B8F4-58373A5D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Deep Research｜五個核心思維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4C40A-F767-4FEF-ADB4-716673AF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rPr>
              <a:t>這些領域判斷限制了 Agent 能合理回答的問題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6D7F3-2026-415C-AECE-C5F627CF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109347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14F43-B626-4AFD-8BEE-E814F673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TAIWAN AIR QUALITY EVIDENCE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F2FE4-A37C-4D6D-BFD7-00E9A573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10077-3990-43C9-BA4E-8ACC46EE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478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ECD19-B7FF-4472-9906-B769AD24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447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AQI 是摘要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975DC-5566-4B18-B51A-1932A232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47800"/>
            <a:ext cx="700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AQI 取污染物副指標最大值；須保留主要污染物與平均時間。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AD9A91-99C3-4F4E-AC91-ABA30539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F5AAE8-6C67-4534-9790-BCCE65BA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343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測站不等於個人暴露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F087C-3038-45D9-9E26-9676BC46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43150"/>
            <a:ext cx="700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站點讀值不直接代表個人所在微環境或吸入劑量。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28B19-54E9-4C6B-9939-AF452F67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F4A07C-D585-41E4-9148-555D5E4F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238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量測品質界定答案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D6A52-4C30-4A9C-82E0-37F35B3A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38500"/>
            <a:ext cx="700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缺值、延遲、衝突和感測器偏差須先處理。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987F1B-804B-476D-B7B0-4F1E57C0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2FEAF6-F287-423C-808C-B18B6273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133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比較前先對齊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A45964-AAB2-4202-8ED7-0C7FB114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33850"/>
            <a:ext cx="700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站點、時間窗、單位和平均尺度一致才可比較。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AC3093-9EC7-46F1-938D-D72BBFF1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09275-D429-4E89-AFFE-D2DB3769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029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相關不等於因果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0993DD-EBC0-430C-AE05-8392F120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29200"/>
            <a:ext cx="700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時空共變不能單獨證明污染來源或健康影響。</a:t>
            </a:r>
          </a:p>
        </p:txBody>
      </p:sp>
    </p:spTree>
    <p:extLst>
      <p:ext uri="{BB962C8B-B14F-4D97-AF65-F5344CB8AC3E}">
        <p14:creationId xmlns:p14="http://schemas.microsoft.com/office/powerpoint/2010/main" val="12693743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400FD0-F16F-49DD-81DD-620AC917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1F38F-E4CA-413D-9C22-741AD93F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58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C3695-C3B2-4B19-8F19-16FBAAAA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rPr>
              <a:t>FIELD STUDY  /  AIR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AB9D1-15B6-4508-9E50-511190D1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Deep Research｜三個專業爭論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F92E5-B5DE-48F6-A4E1-81C4F5FA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rPr>
              <a:t>每個爭論都會改變本專題的資料、模型或回答設計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20F3B-B1F2-4F16-ABF4-387D0E4A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109347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94F75-800D-41A1-BE00-4708DF50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TAIWAN AIR QUALITY EVIDENCE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94A94-7016-415B-9D91-894437B2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386363-5A2C-4DA1-885E-F9CD219F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低成本感測器能取代參考站？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89139-E83D-4EC6-AB62-CB291CF7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支持：密集、即時、在地；限制：濕度、漂移、部署環境影響校正。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1396E-132A-4028-B6D8-7C746594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暫定共識：互補監測，校正與代表性驗證不可省略。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0F875D-64BC-412C-BC16-F01234D4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複雜模型一定優於簡單模型？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A5CB1-6ED1-483F-978B-ED3B4BE7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支持：可捕捉非線性；反證：驗證資料可能無改善甚至過度擬合。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AA4E4-512A-4B20-99AC-BDCFC189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0047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暫定共識：按部署情境做獨立驗證，保留簡單基準。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C03E6-FAFB-42AF-B57B-8266D256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LLM 自由推理還是工具計算？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CD7D52-4BC0-4C21-A2FF-A7F2FD6B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自由生成較靈活；數值工具較可重現，但工具也可能查錯資料或誤解問題。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C3B8C-5DDD-4992-8D9F-3046796E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054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本專題選擇受限工具 Agent，並評估來源和拒答品質。</a:t>
            </a:r>
          </a:p>
        </p:txBody>
      </p:sp>
    </p:spTree>
    <p:extLst>
      <p:ext uri="{BB962C8B-B14F-4D97-AF65-F5344CB8AC3E}">
        <p14:creationId xmlns:p14="http://schemas.microsoft.com/office/powerpoint/2010/main" val="10889607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787536-3EAA-4CA9-A36B-DD7B2A18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47DEB-D57D-4201-9A5B-C48E4A07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58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DE773-7911-4D1D-B79C-D02379FF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rPr>
              <a:t>FIELD STUDY  /  AIR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523D3-964C-40A6-97F7-9350F654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Deep Research｜十個待回答問題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66815-52C6-4E1C-B78F-205EC07F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rPr>
              <a:t>用問題檢查研究設計是否能被證據支持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B81B4-4C78-486E-AE76-FDFB6E9D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109347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0B531-760A-4687-87E1-6F01F8DC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TAIWAN AIR QUALITY EVIDENCE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B0376-9B7A-4EB6-9929-2B10729C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496A4-23E1-410A-B9DF-612B458E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62644-E8A3-495F-8B45-3A9AB103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38300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AQI 和主要污染物如何一起解讀？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D0F8C-9449-48F7-8129-F92F685F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669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3605E-3C7C-49D0-B215-978E9177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66975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發布時間與觀測時間如何區分？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3F230-96A5-43F8-BA37-7F2EE46E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34269-874A-4C1B-8808-EFD84019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95650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測站缺值如何影響趨勢結論？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CF57F-39B9-4570-96C1-884A23FF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57A031-7797-41BB-AC61-D9B8C976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24325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測站比較需要哪些空間與時間條件？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9BFD63-9240-4D18-B0DD-5F72F986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F5A264-7363-4173-AD9A-22ACAF22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53000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何種規則能定義污染事件？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B5B78C-E620-4BB2-81C0-BF7240CD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383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7C053B-8E2E-40D9-8CD8-B6E504FA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38300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鄰站一致性何時是有效證據？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32C347-499F-4C8B-98FE-311F5649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669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D8328E-E18C-451A-A3F6-973FE3EC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66975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LLM-only 會產生哪些數值錯誤？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45D894-6936-46E1-893E-C3F3B02A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956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8CC05F-EBBA-4297-8F2D-080AE3B6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95650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來源引用要細到哪個紀錄欄位？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23D5FB-23BB-465D-A44E-2E4C780E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243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4497F7-C737-494E-85EB-B3328137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24325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何時應追問、限制回答或拒答？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8650BE-428E-45BF-8B67-D1EDB40D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530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3B4580-0583-4B87-93AB-34D306CA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60 題如何避免只測簡單問題？</a:t>
            </a:r>
          </a:p>
        </p:txBody>
      </p:sp>
    </p:spTree>
    <p:extLst>
      <p:ext uri="{BB962C8B-B14F-4D97-AF65-F5344CB8AC3E}">
        <p14:creationId xmlns:p14="http://schemas.microsoft.com/office/powerpoint/2010/main" val="20553609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C37AAC-FAD7-4AAD-971C-F4B5E180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13AFF-72EB-4094-8CF1-83A06749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58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5B958-0F38-4606-BC5E-85A72972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rPr>
              <a:t>FIELD STUDY  /  AIR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ADBAD-223B-4D3D-B2D1-707A524B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評估設計｜60 題與三種基準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2CCEF-6557-4584-AF50-FDEF484A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rPr>
              <a:t>Proposal 規劃，不代表已完成 Agent 實驗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DDBFD-6BC6-43FA-B650-FD2E9AE8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109347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F83F0-C1C5-463D-BD7A-DA714653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TAIWAN AIR QUALITY EVIDENCE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94604-E175-4CD3-883F-40FD0BBD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AFDEA-04AD-4615-8F21-B301AD34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4762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30B40-B0F1-41B2-9943-C2D33ADB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C15E1-4715-483D-90B3-9E118F30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0225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題庫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E8162-152B-414E-9698-43FE0B4F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0275"/>
            <a:ext cx="4381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45 題可回答：趨勢、測站比較、AQI／污染物各 15 題</a:t>
            </a:r>
          </a:p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15 題不足、衝突、因果或醫療越界情境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D02EB-8E21-4DF8-ADEC-64C7A54E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5143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8AE196-09AC-4C48-914F-8D509AD0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2D563-66FC-4126-A53A-BA8544FA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0225"/>
            <a:ext cx="478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比較條件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D93B04-275C-4AB6-9F1E-C05C5F0B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00275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LLM-only 直接回答</a:t>
            </a:r>
          </a:p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確定性工具輸出</a:t>
            </a:r>
          </a:p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工具型 Agent（本提案）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1B1366-3816-4CFB-B1E8-8B4BBFFE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7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主要指標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067E5A-85E2-4A6C-AA8D-F77501CD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8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9FBB78-9043-44AF-BDAC-D75E8C19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95775"/>
            <a:ext cx="1030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數值正確率：依題型與精度設定容許誤差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4E0C74-F00C-41F2-B1E0-608C3A77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8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715D13-0A57-43EA-8B2A-35323244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29175"/>
            <a:ext cx="1030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證據忠實度：測站、時間、數值與來源對應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C2C914-B151-420C-8B79-5F71B28F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8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D2BBC8-9A79-4AA5-8F7E-D32BE002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62575"/>
            <a:ext cx="1030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限制處理：資料不足、衝突或超範圍情境是否正確處理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1EAEE7-831C-4F64-9D31-96CAD594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固定查詢與程式計算產生參考答案，再人工抽查；錯誤分析涵蓋缺值、日期邊界、站名差異和衝突記錄。</a:t>
            </a:r>
          </a:p>
        </p:txBody>
      </p:sp>
    </p:spTree>
    <p:extLst>
      <p:ext uri="{BB962C8B-B14F-4D97-AF65-F5344CB8AC3E}">
        <p14:creationId xmlns:p14="http://schemas.microsoft.com/office/powerpoint/2010/main" val="12685040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5B6DF-D128-46C5-B515-56033C51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04D18-E1EF-4663-A76A-DBD66DA3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58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89229-E3C3-48B6-9678-7223DE62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BFE7E6"/>
                </a:solidFill>
                <a:latin typeface="Microsoft JhengHei"/>
                <a:ea typeface="Microsoft JhengHei"/>
                <a:cs typeface="Microsoft JhengHei"/>
              </a:rPr>
              <a:t>FIELD STUDY  /  AIR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71332-9273-485D-A99A-47F48BF1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主要參考文獻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E2039-E876-4B5C-AB1C-E8EB0FA3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C1D0DC"/>
                </a:solidFill>
                <a:latin typeface="Microsoft JhengHei"/>
                <a:ea typeface="Microsoft JhengHei"/>
                <a:cs typeface="Microsoft JhengHei"/>
              </a:rPr>
              <a:t>完整書目與逐項 DOI 見提案文件 References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016EB-BC75-4867-AE8A-934AF519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109347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01783-0B39-4CFC-983F-E3405502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536A80"/>
                </a:solidFill>
                <a:latin typeface="Microsoft JhengHei"/>
                <a:ea typeface="Microsoft JhengHei"/>
                <a:cs typeface="Microsoft JhengHei"/>
              </a:rPr>
              <a:t>TAIWAN AIR QUALITY EVIDENCE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D58EA-88CF-4987-94A7-0CB20E64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17E40-2455-416E-A6F6-202FA991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382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F1546-F0D0-456E-94C8-CB40AB9F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438275"/>
            <a:ext cx="995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Ma et al. (2026). Multi-agent AI for end-to-end air quality analysis and decision support. npj Clean Air 2, 59. doi:10.1038/s44407-026-00102-4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B3A9E-2D74-4444-BC66-D9330CE1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9398B-EE54-4921-B11E-7A46F649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62175"/>
            <a:ext cx="995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Anomaly Detection Using Generative Language Models and Deep Feature-Based Time Series Similarity (2025). IEEE Access 13, 157147–157159. doi:10.1109/ACCESS.2025.3604216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0B312-7C57-4518-A4F3-DB0D63A2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BEAD8-5BA3-475F-B29B-C800C424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86075"/>
            <a:ext cx="995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Yenkikar et al. (2025). Explainable forecasting of AQI using hybrid random forest and ARIMA. MethodsX 15, 103517. doi:10.1016/j.mex.2025.103517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0F523-F91F-43A9-8BCD-3AAEA046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99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46B308-A072-43CD-94E5-AEC43C03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9975"/>
            <a:ext cx="995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Lee et al. (2020). Forecasting Air Quality in Taiwan by Using Machine Learning. Scientific Reports 10, 4153. doi:10.1038/s41598-020-61151-7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967811-DB24-4A00-BC30-855F5508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4A6121-658E-4150-AE4E-BDF125E7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33875"/>
            <a:ext cx="995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Tzeng et al. (2023). Spatially adaptive calibrations of AirBox PM2.5 data. Biometrics 79(4), 3637–3649. doi:10.1111/biom.13819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FCFC49-0FDE-4E81-B3DC-0CABB8D4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08A58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33005D-3765-4FD5-8527-6FAE7E2C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57775"/>
            <a:ext cx="995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42C46"/>
                </a:solidFill>
                <a:latin typeface="Microsoft JhengHei"/>
                <a:ea typeface="Microsoft JhengHei"/>
                <a:cs typeface="Microsoft JhengHei"/>
              </a:rPr>
              <a:t>MOENV AQX_P_488 historical hourly AQI dataset; Taiwan AQI definition; WHO air-quality evidence and guidelines.</a:t>
            </a:r>
          </a:p>
        </p:txBody>
      </p:sp>
    </p:spTree>
    <p:extLst>
      <p:ext uri="{BB962C8B-B14F-4D97-AF65-F5344CB8AC3E}">
        <p14:creationId xmlns:p14="http://schemas.microsoft.com/office/powerpoint/2010/main" val="1694650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2026-10-29T09:52:28.5030000Z</dcterms:created>
  <dcterms:modified xsi:type="dcterms:W3CDTF">2026-10-29T09:52:28.5030000Z</dcterms:modified>
</coreProperties>
</file>