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 snapToObjects="1">
      <p:cViewPr varScale="1">
        <p:scale>
          <a:sx n="103" d="100"/>
          <a:sy n="103" d="100"/>
        </p:scale>
        <p:origin x="200" y="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ir_bleed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960120" y="1920240"/>
            <a:ext cx="502920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3400" b="1">
                <a:solidFill>
                  <a:srgbClr val="0F172A"/>
                </a:solidFill>
                <a:latin typeface="Noto Sans CJK TC"/>
              </a:rPr>
              <a:t>台灣空氣品質證據分析</a:t>
            </a:r>
          </a:p>
          <a:p>
            <a:pPr algn="l">
              <a:lnSpc>
                <a:spcPct val="122000"/>
              </a:lnSpc>
            </a:pPr>
            <a:r>
              <a:rPr sz="3400" b="1">
                <a:solidFill>
                  <a:srgbClr val="0F172A"/>
                </a:solidFill>
                <a:latin typeface="Noto Sans CJK TC"/>
              </a:rPr>
              <a:t>代理人專題提案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794760"/>
            <a:ext cx="86868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406908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50" b="0">
                <a:solidFill>
                  <a:srgbClr val="0F4C81"/>
                </a:solidFill>
                <a:latin typeface="Noto Sans CJK TC"/>
              </a:rPr>
              <a:t>Taiwan Air Quality Evidence Agent for</a:t>
            </a:r>
          </a:p>
          <a:p>
            <a:pPr algn="l">
              <a:lnSpc>
                <a:spcPct val="125000"/>
              </a:lnSpc>
            </a:pPr>
            <a:r>
              <a:rPr sz="1550" b="0">
                <a:solidFill>
                  <a:srgbClr val="0F4C81"/>
                </a:solidFill>
                <a:latin typeface="Noto Sans CJK TC"/>
              </a:rPr>
              <a:t>Traceable Local Air-Quality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074920"/>
            <a:ext cx="5029200" cy="574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400" b="0" dirty="0" err="1">
                <a:solidFill>
                  <a:srgbClr val="64748B"/>
                </a:solidFill>
                <a:latin typeface="Noto Sans CJK TC"/>
              </a:rPr>
              <a:t>組員：許景翔、</a:t>
            </a:r>
            <a:r>
              <a:rPr lang="en-US" sz="1400" b="0" dirty="0" err="1">
                <a:solidFill>
                  <a:srgbClr val="64748B"/>
                </a:solidFill>
                <a:latin typeface="Noto Sans CJK TC"/>
              </a:rPr>
              <a:t>李君衛</a:t>
            </a:r>
            <a:r>
              <a:rPr sz="1400" b="0" dirty="0">
                <a:solidFill>
                  <a:srgbClr val="64748B"/>
                </a:solidFill>
                <a:latin typeface="Noto Sans CJK TC"/>
              </a:rPr>
              <a:t>、</a:t>
            </a:r>
            <a:r>
              <a:rPr lang="zh-TW" altLang="en-US" sz="1400" b="0" dirty="0">
                <a:solidFill>
                  <a:srgbClr val="64748B"/>
                </a:solidFill>
                <a:latin typeface="Noto Sans CJK TC"/>
              </a:rPr>
              <a:t>吳</a:t>
            </a:r>
            <a:r>
              <a:rPr lang="zh-TW" altLang="en-US" sz="1400" b="0">
                <a:solidFill>
                  <a:srgbClr val="64748B"/>
                </a:solidFill>
                <a:latin typeface="Noto Sans CJK TC"/>
              </a:rPr>
              <a:t>誠哲</a:t>
            </a:r>
            <a:endParaRPr sz="1400" b="0" dirty="0">
              <a:solidFill>
                <a:srgbClr val="64748B"/>
              </a:solidFill>
              <a:latin typeface="Noto Sans CJK TC"/>
            </a:endParaRPr>
          </a:p>
          <a:p>
            <a:pPr algn="l">
              <a:lnSpc>
                <a:spcPct val="130000"/>
              </a:lnSpc>
            </a:pPr>
            <a:r>
              <a:rPr sz="1400" b="0" dirty="0" err="1">
                <a:solidFill>
                  <a:srgbClr val="64748B"/>
                </a:solidFill>
                <a:latin typeface="Noto Sans CJK TC"/>
              </a:rPr>
              <a:t>資料盤點截至</a:t>
            </a:r>
            <a:r>
              <a:rPr sz="1400" b="0" dirty="0">
                <a:solidFill>
                  <a:srgbClr val="64748B"/>
                </a:solidFill>
                <a:latin typeface="Noto Sans CJK TC"/>
              </a:rPr>
              <a:t> 2026 </a:t>
            </a:r>
            <a:r>
              <a:rPr sz="1400" b="0" dirty="0" err="1">
                <a:solidFill>
                  <a:srgbClr val="64748B"/>
                </a:solidFill>
                <a:latin typeface="Noto Sans CJK TC"/>
              </a:rPr>
              <a:t>年</a:t>
            </a:r>
            <a:r>
              <a:rPr sz="1400" b="0" dirty="0">
                <a:solidFill>
                  <a:srgbClr val="64748B"/>
                </a:solidFill>
                <a:latin typeface="Noto Sans CJK TC"/>
              </a:rPr>
              <a:t> 10 </a:t>
            </a:r>
            <a:r>
              <a:rPr sz="1400" b="0" dirty="0" err="1">
                <a:solidFill>
                  <a:srgbClr val="64748B"/>
                </a:solidFill>
                <a:latin typeface="Noto Sans CJK TC"/>
              </a:rPr>
              <a:t>月</a:t>
            </a:r>
            <a:r>
              <a:rPr sz="1400" b="0" dirty="0">
                <a:solidFill>
                  <a:srgbClr val="64748B"/>
                </a:solidFill>
                <a:latin typeface="Noto Sans CJK TC"/>
              </a:rPr>
              <a:t> 29 </a:t>
            </a:r>
            <a:r>
              <a:rPr sz="1400" b="0" dirty="0" err="1">
                <a:solidFill>
                  <a:srgbClr val="64748B"/>
                </a:solidFill>
                <a:latin typeface="Noto Sans CJK TC"/>
              </a:rPr>
              <a:t>日</a:t>
            </a:r>
            <a:endParaRPr sz="1400" b="0" dirty="0">
              <a:solidFill>
                <a:srgbClr val="64748B"/>
              </a:solidFill>
              <a:latin typeface="Noto Sans CJK T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ir_bleed_t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77240" y="86868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F172A"/>
                </a:solidFill>
                <a:latin typeface="Noto Sans CJK TC"/>
              </a:rPr>
              <a:t>目錄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08760"/>
            <a:ext cx="749808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2084831"/>
            <a:ext cx="685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0284C7"/>
                </a:solidFill>
                <a:latin typeface="Noto Sans CJK T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066543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0F172A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87168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4748B"/>
                </a:solidFill>
                <a:latin typeface="Noto Sans CJK TC"/>
              </a:rPr>
              <a:t>提案摘要 A–F、環境部資料盤點、問題與貢獻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27248"/>
            <a:ext cx="685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0284C7"/>
                </a:solidFill>
                <a:latin typeface="Noto Sans CJK T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108960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0F172A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529584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4748B"/>
                </a:solidFill>
                <a:latin typeface="Noto Sans CJK TC"/>
              </a:rPr>
              <a:t>AI 與感測校正文獻摘要表 [1]–[8]、Research 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69663"/>
            <a:ext cx="685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0284C7"/>
                </a:solidFill>
                <a:latin typeface="Noto Sans CJK T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151376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0F172A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57200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4748B"/>
                </a:solidFill>
                <a:latin typeface="Noto Sans CJK TC"/>
              </a:rPr>
              <a:t>5 個核心思維、3 個專業爭論、10 個深度問題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12079"/>
            <a:ext cx="685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0284C7"/>
                </a:solidFill>
                <a:latin typeface="Noto Sans CJK TC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193792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0F172A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614416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4748B"/>
                </a:solidFill>
                <a:latin typeface="Noto Sans CJK TC"/>
              </a:rPr>
              <a:t>情境範圍、系統架構 ①–⑨、流程圖、虛擬碼與評估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提案摘要｜A–F 六段式研究故事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Abstract Story (A–F)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572768"/>
            <a:ext cx="3364992" cy="2084831"/>
          </a:xfrm>
          <a:prstGeom prst="roundRect">
            <a:avLst>
              <a:gd name="adj" fmla="val 7000"/>
            </a:avLst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78408" y="2139696"/>
            <a:ext cx="2962656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16552" y="1572768"/>
            <a:ext cx="3364992" cy="2084831"/>
          </a:xfrm>
          <a:prstGeom prst="roundRect">
            <a:avLst>
              <a:gd name="adj" fmla="val 7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17720" y="2139696"/>
            <a:ext cx="2962656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55864" y="1572768"/>
            <a:ext cx="3364992" cy="2084831"/>
          </a:xfrm>
          <a:prstGeom prst="roundRect">
            <a:avLst>
              <a:gd name="adj" fmla="val 7000"/>
            </a:avLst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57032" y="2139696"/>
            <a:ext cx="2962656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3904487"/>
            <a:ext cx="3364992" cy="2084831"/>
          </a:xfrm>
          <a:prstGeom prst="roundRect">
            <a:avLst>
              <a:gd name="adj" fmla="val 7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8408" y="4471416"/>
            <a:ext cx="2962656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416552" y="3904487"/>
            <a:ext cx="3364992" cy="2084831"/>
          </a:xfrm>
          <a:prstGeom prst="roundRect">
            <a:avLst>
              <a:gd name="adj" fmla="val 7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17720" y="4471416"/>
            <a:ext cx="2962656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55864" y="3904487"/>
            <a:ext cx="3364992" cy="2084831"/>
          </a:xfrm>
          <a:prstGeom prst="roundRect">
            <a:avLst>
              <a:gd name="adj" fmla="val 7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57032" y="4471416"/>
            <a:ext cx="2962656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8408" y="171907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A. Attention Getter（動機）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2322576"/>
            <a:ext cx="29626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334155"/>
                </a:solidFill>
                <a:latin typeface="Noto Sans CJK TC"/>
              </a:rPr>
              <a:t>環境部開放 2026 年 1–10 月共 970,296 筆逐時紀錄，但民眾仍須人工對齊測站、時段與主要污染物 [9][10]。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171907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B. But（現有挑戰）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2322576"/>
            <a:ext cx="29626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334155"/>
                </a:solidFill>
                <a:latin typeface="Noto Sans CJK TC"/>
              </a:rPr>
              <a:t>一般 LLM 易生成無來源數字；近期 Neuro-Air 針對香港與河北，尚未驗證台灣環境部 AQI 逐項紀錄追溯 [1]。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171907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C. Cure（解決方案）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2" y="2322576"/>
            <a:ext cx="29626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334155"/>
                </a:solidFill>
                <a:latin typeface="Noto Sans CJK TC"/>
              </a:rPr>
              <a:t>提出「台灣空氣品質證據分析代理人」，將語言理解與程式計算分離，強制每項數值回連測站與時間。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4050791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D. Development（核心方法）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4654296"/>
            <a:ext cx="29626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334155"/>
                </a:solidFill>
                <a:latin typeface="Noto Sans CJK TC"/>
              </a:rPr>
              <a:t>建立可重跑清理流程（保留 606,137 筆、88 站），結合趨勢／測站比較工具、AQI 領域規則與證據核對 [9][10]。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050791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E. Experiments（評估設計）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654296"/>
            <a:ext cx="29626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334155"/>
                </a:solidFill>
                <a:latin typeface="Noto Sans CJK TC"/>
              </a:rPr>
              <a:t>以 60 題測試集（45 題可回答 + 15 題資料不足或衝突）比較純 LLM、純工具模板與本專題 Agent。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2" y="4050791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F. Findings（預期成果）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2" y="4654296"/>
            <a:ext cx="29626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334155"/>
                </a:solidFill>
                <a:latin typeface="Noto Sans CJK TC"/>
              </a:rPr>
              <a:t>預期釐清 Agent 在完整資料、缺值與衝突情境下的可靠範圍；Proposal 階段尚未進行實驗，不預先宣稱數據提升。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註：本提案不主張全球第一個空品 Agent 或新演算法，聚焦台灣環境部 AQX_P_488 之可追溯問答驗證 [1][9]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背景動機｜空污健康負荷與環境部資料盤點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Motivation &amp; Dataset [9][13]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1554480"/>
            <a:ext cx="566928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61888" y="2267712"/>
            <a:ext cx="1682496" cy="36576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35823" y="2267712"/>
            <a:ext cx="1682496" cy="36576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59" y="2267712"/>
            <a:ext cx="1682496" cy="36576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35040" y="3547872"/>
            <a:ext cx="2514600" cy="329184"/>
          </a:xfrm>
          <a:prstGeom prst="roundRect">
            <a:avLst>
              <a:gd name="adj" fmla="val 20000"/>
            </a:avLst>
          </a:prstGeom>
          <a:solidFill>
            <a:srgbClr val="99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732520" y="3547872"/>
            <a:ext cx="2487168" cy="329184"/>
          </a:xfrm>
          <a:prstGeom prst="roundRect">
            <a:avLst>
              <a:gd name="adj" fmla="val 20000"/>
            </a:avLst>
          </a:prstGeom>
          <a:solidFill>
            <a:srgbClr val="99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35040" y="3968496"/>
            <a:ext cx="1353312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24927" y="3968496"/>
            <a:ext cx="1124712" cy="36576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732520" y="3968496"/>
            <a:ext cx="105156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820656" y="3968496"/>
            <a:ext cx="1399032" cy="36576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35040" y="4407408"/>
            <a:ext cx="1353312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24927" y="4407408"/>
            <a:ext cx="1124712" cy="36576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732520" y="4407408"/>
            <a:ext cx="105156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820656" y="4407408"/>
            <a:ext cx="1399032" cy="36576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35040" y="4846320"/>
            <a:ext cx="1353312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24927" y="4846320"/>
            <a:ext cx="1124712" cy="36576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732520" y="4846320"/>
            <a:ext cx="105156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20656" y="4846320"/>
            <a:ext cx="1399032" cy="36576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c_blue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676656" cy="676656"/>
          </a:xfrm>
          <a:prstGeom prst="rect">
            <a:avLst/>
          </a:prstGeom>
          <a:ln>
            <a:noFill/>
          </a:ln>
        </p:spPr>
      </p:pic>
      <p:sp>
        <p:nvSpPr>
          <p:cNvPr id="34" name="TextBox 33"/>
          <p:cNvSpPr txBox="1"/>
          <p:nvPr/>
        </p:nvSpPr>
        <p:spPr>
          <a:xfrm>
            <a:off x="1572768" y="1664208"/>
            <a:ext cx="39319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Noto Sans CJK TC"/>
              </a:rPr>
              <a:t>空污健康衝擊與查詢痛點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2377440"/>
            <a:ext cx="470916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• 全球健康風險證據</a:t>
            </a:r>
            <a:r>
              <a:rPr sz="1420" b="0">
                <a:solidFill>
                  <a:srgbClr val="334155"/>
                </a:solidFill>
                <a:latin typeface="Noto Sans CJK TC"/>
              </a:rPr>
              <a:t>：WHO 2025 摘要指出，空污暴露與全球近 1/8 死亡相關 [13]。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• 台灣公開逐時資料</a:t>
            </a:r>
            <a:r>
              <a:rPr sz="1420" b="0">
                <a:solidFill>
                  <a:srgbClr val="334155"/>
                </a:solidFill>
                <a:latin typeface="Noto Sans CJK TC"/>
              </a:rPr>
              <a:t>：環境部 AQX_P_488 提供測站 AQI、主要污染物與氣象紀錄 [9]。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• 單一指標解讀限制</a:t>
            </a:r>
            <a:r>
              <a:rPr sz="1420" b="0">
                <a:solidFill>
                  <a:srgbClr val="334155"/>
                </a:solidFill>
                <a:latin typeface="Noto Sans CJK TC"/>
              </a:rPr>
              <a:t>：AQI 僅取副指標最大值，不代表全部污染物或個人實際暴露 [10][13]。</a:t>
            </a:r>
          </a:p>
          <a:p>
            <a:pPr algn="l">
              <a:lnSpc>
                <a:spcPct val="122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• 人工查核門檻高</a:t>
            </a:r>
            <a:r>
              <a:rPr sz="1420" b="0">
                <a:solidFill>
                  <a:srgbClr val="334155"/>
                </a:solidFill>
                <a:latin typeface="Noto Sans CJK TC"/>
              </a:rPr>
              <a:t>：民眾需自行對齊時空、清理中英重複列與數值衝突，難以快速驗證。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1719072"/>
            <a:ext cx="5257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0F4C81"/>
                </a:solidFill>
                <a:latin typeface="Noto Sans CJK TC"/>
              </a:rPr>
              <a:t>2026年1–10月 AQX_P_488 資料清理盤點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7607" y="2313432"/>
            <a:ext cx="1591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原始下載總筆數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7607" y="2743200"/>
            <a:ext cx="15910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0D9488"/>
                </a:solidFill>
                <a:latin typeface="Noto Sans CJK TC"/>
              </a:rPr>
              <a:t>970,296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1544" y="2313432"/>
            <a:ext cx="1591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清理後保留筆數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81544" y="2743200"/>
            <a:ext cx="15910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0D9488"/>
                </a:solidFill>
                <a:latin typeface="Noto Sans CJK TC"/>
              </a:rPr>
              <a:t>606,137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2313432"/>
            <a:ext cx="1591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有效測站編號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2743200"/>
            <a:ext cx="15910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0D9488"/>
                </a:solidFill>
                <a:latin typeface="Noto Sans CJK TC"/>
              </a:rPr>
              <a:t>88 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358444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可重跑資料清理項目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35844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盤點範圍與限制說明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8192" y="40325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F172A"/>
                </a:solidFill>
                <a:latin typeface="Noto Sans CJK TC"/>
              </a:rPr>
              <a:t>中英文重複列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79792" y="4032504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合併去重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08192" y="4471416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F172A"/>
                </a:solidFill>
                <a:latin typeface="Noto Sans CJK TC"/>
              </a:rPr>
              <a:t>缺失測站編號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79792" y="4471416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恢復 4 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08192" y="491032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F172A"/>
                </a:solidFill>
                <a:latin typeface="Noto Sans CJK TC"/>
              </a:rPr>
              <a:t>同刻數值衝突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79792" y="4910328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隔離 13 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96528" y="4032504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F172A"/>
                </a:solidFill>
                <a:latin typeface="Noto Sans CJK TC"/>
              </a:rPr>
              <a:t>時間起訖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4032504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0F4C81"/>
                </a:solidFill>
                <a:latin typeface="Noto Sans CJK TC"/>
              </a:rPr>
              <a:t>01/01–10/29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96528" y="4471416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F172A"/>
                </a:solidFill>
                <a:latin typeface="Noto Sans CJK TC"/>
              </a:rPr>
              <a:t>主要欄位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4471416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0F4C81"/>
                </a:solidFill>
                <a:latin typeface="Noto Sans CJK TC"/>
              </a:rPr>
              <a:t>AQI/污染物/氣象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96528" y="4910328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F172A"/>
                </a:solidFill>
                <a:latin typeface="Noto Sans CJK TC"/>
              </a:rPr>
              <a:t>缺值聲明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0" y="4910328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0F4C81"/>
                </a:solidFill>
                <a:latin typeface="Noto Sans CJK TC"/>
              </a:rPr>
              <a:t>非全年無缺值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5413248"/>
            <a:ext cx="51663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34155"/>
                </a:solidFill>
                <a:latin typeface="Noto Sans CJK TC"/>
              </a:rPr>
              <a:t>• 原始 CSV 檔案不覆寫，完整保留檔名與 MD5 雜湊值以供稽核 [9]。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資料來源：WHO 科學與政策摘要 (2025) [13]；環境部開放資料平臺 AQX_P_488 (截至 2026-10-29 16:00) [9][10]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問題定義、核心作法與預期貢獻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Problem &amp; Contributions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572768"/>
            <a:ext cx="3364992" cy="4590288"/>
          </a:xfrm>
          <a:prstGeom prst="roundRect">
            <a:avLst>
              <a:gd name="adj" fmla="val 6000"/>
            </a:avLst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96695" y="2578608"/>
            <a:ext cx="292608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16552" y="1572768"/>
            <a:ext cx="3364992" cy="4590288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36008" y="2578608"/>
            <a:ext cx="292608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55864" y="1572768"/>
            <a:ext cx="3364992" cy="4590288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75320" y="2578608"/>
            <a:ext cx="292608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c_blue_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5" y="1737360"/>
            <a:ext cx="694944" cy="694944"/>
          </a:xfrm>
          <a:prstGeom prst="rect">
            <a:avLst/>
          </a:prstGeom>
          <a:ln>
            <a:noFill/>
          </a:ln>
        </p:spPr>
      </p:pic>
      <p:sp>
        <p:nvSpPr>
          <p:cNvPr id="22" name="TextBox 21"/>
          <p:cNvSpPr txBox="1"/>
          <p:nvPr/>
        </p:nvSpPr>
        <p:spPr>
          <a:xfrm>
            <a:off x="1801368" y="1883664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Noto Sans CJK TC"/>
              </a:rPr>
              <a:t>問題定義與現有限制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" y="2798064"/>
            <a:ext cx="292608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核心研究問題</a:t>
            </a:r>
            <a:r>
              <a:rPr sz="1380" b="0">
                <a:solidFill>
                  <a:srgbClr val="334155"/>
                </a:solidFill>
                <a:latin typeface="Noto Sans CJK TC"/>
              </a:rPr>
              <a:t>：如何從逐時紀錄產生可核對說明，並在資料不足時明確限制回答？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既有頁面限制</a:t>
            </a:r>
            <a:r>
              <a:rPr sz="1380" b="0">
                <a:solidFill>
                  <a:srgbClr val="334155"/>
                </a:solidFill>
                <a:latin typeface="Noto Sans CJK TC"/>
              </a:rPr>
              <a:t>：僅提供原始數值，使用者須自行對齊時空與處理重複列。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純 LLM 限制</a:t>
            </a:r>
            <a:r>
              <a:rPr sz="1380" b="0">
                <a:solidFill>
                  <a:srgbClr val="334155"/>
                </a:solidFill>
                <a:latin typeface="Noto Sans CJK TC"/>
              </a:rPr>
              <a:t>：文字流暢但無法保證數值正確；既有研究未涵蓋台灣 AQI 問答追溯 [1][4]。</a:t>
            </a:r>
          </a:p>
        </p:txBody>
      </p:sp>
      <p:pic>
        <p:nvPicPr>
          <p:cNvPr id="24" name="Picture 23" descr="ic_blue_ge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737360"/>
            <a:ext cx="694944" cy="694944"/>
          </a:xfrm>
          <a:prstGeom prst="rect">
            <a:avLst/>
          </a:prstGeom>
          <a:ln>
            <a:noFill/>
          </a:ln>
        </p:spPr>
      </p:pic>
      <p:sp>
        <p:nvSpPr>
          <p:cNvPr id="25" name="TextBox 24"/>
          <p:cNvSpPr txBox="1"/>
          <p:nvPr/>
        </p:nvSpPr>
        <p:spPr>
          <a:xfrm>
            <a:off x="5440680" y="1883664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Noto Sans CJK TC"/>
              </a:rPr>
              <a:t>本專題核心作法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2798064"/>
            <a:ext cx="292608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解析與計算分離</a:t>
            </a:r>
            <a:r>
              <a:rPr sz="1380" b="0">
                <a:solidFill>
                  <a:srgbClr val="334155"/>
                </a:solidFill>
                <a:latin typeface="Noto Sans CJK TC"/>
              </a:rPr>
              <a:t>：Planner 轉化結構化任務；確定性工具負責計算趨勢與測站差異。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領域規則約束</a:t>
            </a:r>
            <a:r>
              <a:rPr sz="1380" b="0">
                <a:solidFill>
                  <a:srgbClr val="334155"/>
                </a:solidFill>
                <a:latin typeface="Noto Sans CJK TC"/>
              </a:rPr>
              <a:t>：依環境部 AQI 規範保留主要污染物與平均時間，LLM 僅組織結果 [10]。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嚴格邊界控制</a:t>
            </a:r>
            <a:r>
              <a:rPr sz="1380" b="0">
                <a:solidFill>
                  <a:srgbClr val="334155"/>
                </a:solidFill>
                <a:latin typeface="Noto Sans CJK TC"/>
              </a:rPr>
              <a:t>：每項數值附測站與時間；禁止推論污染源因果或提供個人醫療診斷。</a:t>
            </a:r>
          </a:p>
        </p:txBody>
      </p:sp>
      <p:pic>
        <p:nvPicPr>
          <p:cNvPr id="27" name="Picture 26" descr="ic_blue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737360"/>
            <a:ext cx="694944" cy="694944"/>
          </a:xfrm>
          <a:prstGeom prst="rect">
            <a:avLst/>
          </a:prstGeom>
          <a:ln>
            <a:noFill/>
          </a:ln>
        </p:spPr>
      </p:pic>
      <p:sp>
        <p:nvSpPr>
          <p:cNvPr id="28" name="TextBox 27"/>
          <p:cNvSpPr txBox="1"/>
          <p:nvPr/>
        </p:nvSpPr>
        <p:spPr>
          <a:xfrm>
            <a:off x="9079992" y="1883664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Noto Sans CJK TC"/>
              </a:rPr>
              <a:t>四項預期貢獻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798064"/>
            <a:ext cx="292608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① 可重跑清理流程</a:t>
            </a:r>
            <a:r>
              <a:rPr sz="1380" b="0">
                <a:solidFill>
                  <a:srgbClr val="334155"/>
                </a:solidFill>
                <a:latin typeface="Noto Sans CJK TC"/>
              </a:rPr>
              <a:t>：建立保留原始檔、記錄去重與衝突隔離的 AQX_P_488 準備流程 [9]。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② 工具型 Agent 原型</a:t>
            </a:r>
            <a:r>
              <a:rPr sz="1380" b="0">
                <a:solidFill>
                  <a:srgbClr val="334155"/>
                </a:solidFill>
                <a:latin typeface="Noto Sans CJK TC"/>
              </a:rPr>
              <a:t>：實作整合檢索、趨勢計算、測站比較與 AQI 規則的代理系統。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③ 60 題基準與分析</a:t>
            </a:r>
            <a:r>
              <a:rPr sz="1380" b="0">
                <a:solidFill>
                  <a:srgbClr val="334155"/>
                </a:solidFill>
                <a:latin typeface="Noto Sans CJK TC"/>
              </a:rPr>
              <a:t>：建立可回答／不可回答測試集，比較三種方法並分析失敗案例。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對應 Proposal 第 1.3–1.6 節：分離語言理解與數值計算，禁止無根據之因果推論或個人醫療診斷 [1][4][5][10]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相關研究架構｜1/2 AI 技術 + 1/2 領域知識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Related Work 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560320"/>
            <a:ext cx="3657600" cy="361188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00600" y="1965960"/>
            <a:ext cx="2148840" cy="96926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04304" y="1965960"/>
            <a:ext cx="4407408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00600" y="3026663"/>
            <a:ext cx="2148840" cy="96926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04304" y="3026663"/>
            <a:ext cx="4407408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00600" y="4087368"/>
            <a:ext cx="2148840" cy="96926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04304" y="4087368"/>
            <a:ext cx="4407408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00600" y="5148071"/>
            <a:ext cx="2148840" cy="96926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04304" y="5148071"/>
            <a:ext cx="4407408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c_blu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72768"/>
            <a:ext cx="731520" cy="731520"/>
          </a:xfrm>
          <a:prstGeom prst="rect">
            <a:avLst/>
          </a:prstGeom>
          <a:ln>
            <a:noFill/>
          </a:ln>
        </p:spPr>
      </p:pic>
      <p:sp>
        <p:nvSpPr>
          <p:cNvPr id="25" name="TextBox 24"/>
          <p:cNvSpPr txBox="1"/>
          <p:nvPr/>
        </p:nvSpPr>
        <p:spPr>
          <a:xfrm>
            <a:off x="1691640" y="1627632"/>
            <a:ext cx="27889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50" b="1">
                <a:solidFill>
                  <a:srgbClr val="0F172A"/>
                </a:solidFill>
                <a:latin typeface="Noto Sans CJK TC"/>
              </a:rPr>
              <a:t>雙軸文獻回顧設計</a:t>
            </a:r>
          </a:p>
          <a:p>
            <a:pPr algn="l">
              <a:lnSpc>
                <a:spcPct val="120000"/>
              </a:lnSpc>
            </a:pPr>
            <a:r>
              <a:rPr sz="1750" b="1">
                <a:solidFill>
                  <a:srgbClr val="0F172A"/>
                </a:solidFill>
                <a:latin typeface="Noto Sans CJK TC"/>
              </a:rPr>
              <a:t>AI × Domain</a:t>
            </a:r>
          </a:p>
        </p:txBody>
      </p:sp>
      <p:pic>
        <p:nvPicPr>
          <p:cNvPr id="26" name="Picture 25" descr="ic_blue_cs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724912"/>
            <a:ext cx="640080" cy="640080"/>
          </a:xfrm>
          <a:prstGeom prst="rect">
            <a:avLst/>
          </a:prstGeom>
          <a:ln>
            <a:noFill/>
          </a:ln>
        </p:spPr>
      </p:pic>
      <p:sp>
        <p:nvSpPr>
          <p:cNvPr id="27" name="TextBox 26"/>
          <p:cNvSpPr txBox="1"/>
          <p:nvPr/>
        </p:nvSpPr>
        <p:spPr>
          <a:xfrm>
            <a:off x="1792224" y="2761488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8 篇論文 + 5 項官方規範</a:t>
            </a:r>
          </a:p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兼顧 AI 方法與量測限制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3547872"/>
            <a:ext cx="329184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Noto Sans CJK TC"/>
              </a:rPr>
              <a:t>• AI 與分析篇 [1]–[4]</a:t>
            </a:r>
            <a:r>
              <a:rPr sz="1300" b="0">
                <a:solidFill>
                  <a:srgbClr val="334155"/>
                </a:solidFill>
                <a:latin typeface="Noto Sans CJK TC"/>
              </a:rPr>
              <a:t>：多代理決策、時序異常檢索與台灣 PM2.5 預測。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Noto Sans CJK TC"/>
              </a:rPr>
              <a:t>• 感測與校正篇 [5]–[8]</a:t>
            </a:r>
            <a:r>
              <a:rPr sz="1300" b="0">
                <a:solidFill>
                  <a:srgbClr val="334155"/>
                </a:solidFill>
                <a:latin typeface="Noto Sans CJK TC"/>
              </a:rPr>
              <a:t>：AirBox 空間校正、溫濕度驗證與部署偏移。</a:t>
            </a:r>
          </a:p>
          <a:p>
            <a:pPr algn="l">
              <a:lnSpc>
                <a:spcPct val="122000"/>
              </a:lnSpc>
            </a:pPr>
            <a:r>
              <a:rPr sz="1350" b="1">
                <a:solidFill>
                  <a:srgbClr val="0F172A"/>
                </a:solidFill>
                <a:latin typeface="Noto Sans CJK TC"/>
              </a:rPr>
              <a:t>• 官方領域規範 [9]–[13]</a:t>
            </a:r>
            <a:r>
              <a:rPr sz="1300" b="0">
                <a:solidFill>
                  <a:srgbClr val="334155"/>
                </a:solidFill>
                <a:latin typeface="Noto Sans CJK TC"/>
              </a:rPr>
              <a:t>：環境部 AQI 規則、US EPA 指南與 WHO 指引。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1508760"/>
            <a:ext cx="6583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50" b="1">
                <a:solidFill>
                  <a:srgbClr val="0F172A"/>
                </a:solidFill>
                <a:latin typeface="Noto Sans CJK TC"/>
              </a:rPr>
              <a:t>相關研究四大類別與核心議題對照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2112264"/>
            <a:ext cx="196596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AI 多代理與異常偵測</a:t>
            </a:r>
          </a:p>
          <a:p>
            <a:pPr algn="l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[1]–[2] (2025–2026)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2057400"/>
            <a:ext cx="420624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• [1] Neuro-Air：LLM 協調多角色與 Python 環境，以 317 題評估跨源空品分析。</a:t>
            </a:r>
          </a:p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• [2] 時序異常框架：結合鄰站 DTW/Z-score 與 LLM 解釋，降低逾 50% 誤報率。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172968"/>
            <a:ext cx="196596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空品預測與台灣建模</a:t>
            </a:r>
          </a:p>
          <a:p>
            <a:pPr algn="l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[3]–[4] (2020, 2025)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2" y="3118103"/>
            <a:ext cx="420624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• [3] Yenkikar 等：RF + ARIMA 殘差搭配 SHAP 解釋印度多年 AQI (R²=0.94)。</a:t>
            </a:r>
          </a:p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• [4] Lee 等：結合台灣 77 空品站與 580 氣象站預測 PM2.5，台中 R² 升至 0.71。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233672"/>
            <a:ext cx="196596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感測器與空間校正</a:t>
            </a:r>
          </a:p>
          <a:p>
            <a:pPr algn="l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[5]–[8] (2023, 2025)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4032" y="4178807"/>
            <a:ext cx="420624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• [5] Tzeng 等：台灣 AirBox 空間變動係數校正，改善 RMSE 約 38%–68%。</a:t>
            </a:r>
          </a:p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• [6]–[8] 2025 實證：揭露溫濕度跨站過度擬合、部署斜率偏移及高濕度吸濕偏差。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5294375"/>
            <a:ext cx="196596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官方監測與健康規範</a:t>
            </a:r>
          </a:p>
          <a:p>
            <a:pPr algn="l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[9]–[13] (MOENV/WHO)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5239511"/>
            <a:ext cx="420624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• 環境部 [9][10]：定義 AQX_P_488 欄位與多污染物副指標最大值 AQI 規則。</a:t>
            </a:r>
          </a:p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• US EPA [11] 與 WHO [12][13]：規範感測器共置驗證、平均時間尺度與暴露限制。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遵循專題規範：AI／資料分析與空品感測領域各列 4 篇代表論文 [1]–[8]，並補充環境部、US EPA 與 WHO 規範 [9]–[13]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相關研究摘要表（一）｜AI 與分析文獻 [1]–[4]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Summary Table [1]–[4]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508760"/>
            <a:ext cx="1234439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57400" y="1508760"/>
            <a:ext cx="1280160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83280" y="1508760"/>
            <a:ext cx="1737360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66360" y="1508760"/>
            <a:ext cx="2148840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60920" y="1508760"/>
            <a:ext cx="1965960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72600" y="1508760"/>
            <a:ext cx="2011680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1975104"/>
            <a:ext cx="1234439" cy="98755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057400" y="1975104"/>
            <a:ext cx="12801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83280" y="1975104"/>
            <a:ext cx="17373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66360" y="1975104"/>
            <a:ext cx="214884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60920" y="1975104"/>
            <a:ext cx="19659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372600" y="1975104"/>
            <a:ext cx="20116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7240" y="3035808"/>
            <a:ext cx="1234439" cy="98755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057400" y="3035808"/>
            <a:ext cx="128016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83280" y="3035808"/>
            <a:ext cx="173736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166360" y="3035808"/>
            <a:ext cx="214884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60920" y="3035808"/>
            <a:ext cx="196596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372600" y="3035808"/>
            <a:ext cx="201168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7240" y="4096512"/>
            <a:ext cx="1234439" cy="98755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057400" y="4096512"/>
            <a:ext cx="12801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83280" y="4096512"/>
            <a:ext cx="17373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166360" y="4096512"/>
            <a:ext cx="214884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60920" y="4096512"/>
            <a:ext cx="19659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372600" y="4096512"/>
            <a:ext cx="20116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77240" y="5157216"/>
            <a:ext cx="1234439" cy="98755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057400" y="5157216"/>
            <a:ext cx="128016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383280" y="5157216"/>
            <a:ext cx="173736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66360" y="5157216"/>
            <a:ext cx="214884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360920" y="5157216"/>
            <a:ext cx="196596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372600" y="5157216"/>
            <a:ext cx="201168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2103" y="1572768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Ref. / 年份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12264" y="1572768"/>
            <a:ext cx="11795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研究問題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38144" y="1572768"/>
            <a:ext cx="1636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AI 方法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21224" y="1572768"/>
            <a:ext cx="20482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領域知識與資料集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15784" y="157276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主要研究發現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27464" y="1572768"/>
            <a:ext cx="1911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與本專題相關限制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" y="2066544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[1] Ma et al.</a:t>
            </a:r>
          </a:p>
          <a:p>
            <a:pPr algn="l">
              <a:lnSpc>
                <a:spcPct val="118000"/>
              </a:lnSpc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Neuro-Air (2026)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30552" y="2066544"/>
            <a:ext cx="1143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多來源空品分析與決策支援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56432" y="2066544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LLM 協調多角色 + 持續式 Python 環境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9512" y="2066544"/>
            <a:ext cx="20116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空污、氣象與排放知識；香港與河北資料（317 題基準）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34072" y="2066544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可執行多步驟分析；指出來源歸因與健康仍需專業審查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45752" y="2066544"/>
            <a:ext cx="1874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非台灣 AQX_P_488 任務；多代理超出本專題必要範圍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3127248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[2] IEEE Access</a:t>
            </a:r>
          </a:p>
          <a:p>
            <a:pPr algn="l">
              <a:lnSpc>
                <a:spcPct val="118000"/>
              </a:lnSpc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(2025) Anomaly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30552" y="3127248"/>
            <a:ext cx="1143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空品時序異常偵測與解釋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56432" y="3127248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時序切片、向量檢索、鄰站 DTW/Z-score + LLM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9512" y="3127248"/>
            <a:ext cx="20116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空品時序與鄰站空間一致性；韓國空品監測資料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34072" y="3127248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維持召回率下，將誤報率 (FPR) 降低超過 50%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45752" y="3127248"/>
            <a:ext cx="1874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聚焦異常偵測；未驗證台灣 AQI 問答與逐項來源引用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" y="4187952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[3] Yenkikar</a:t>
            </a:r>
          </a:p>
          <a:p>
            <a:pPr algn="l">
              <a:lnSpc>
                <a:spcPct val="118000"/>
              </a:lnSpc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et al. (2025)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4187952"/>
            <a:ext cx="1143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預測 AQI 並提供特徵解釋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56432" y="4187952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Random Forest + ARIMA 殘差與 SHAP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39512" y="4187952"/>
            <a:ext cx="20116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污染物特徵與 AQI 時序；印度多年期 AQI 資料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34072" y="4187952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報告 MSE 508.46、R² 0.94，優於比較基準模型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45752" y="4187952"/>
            <a:ext cx="1874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目標為預測且資料需索取；指標無法與問答正確率相比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392" y="5248655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[4] Lee et al.</a:t>
            </a:r>
          </a:p>
          <a:p>
            <a:pPr algn="l">
              <a:lnSpc>
                <a:spcPct val="118000"/>
              </a:lnSpc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Sci. Rep. (2020)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5248655"/>
            <a:ext cx="1143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預測台灣各站 PM2.5 與區域差異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56432" y="5248655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Gradient Boosting 結合鄰近氣象與歷史污染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39512" y="5248655"/>
            <a:ext cx="20116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台灣地形、季風與電廠排放；77 空品站 + 580 氣象站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34072" y="5248655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台中加入電廠特徵後，平均 R² 由 0.58 升至 0.71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45752" y="5248655"/>
            <a:ext cx="1874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研究時間較早；著重 24h 預測，不處理自然語言問答追溯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對應 Proposal 第 2.1 節研究摘要表（Ref. [1]–[4]）：涵蓋年份、問題、AI 方法、領域知識、資料集、發現與限制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相關研究摘要表（二）｜感測校正文獻 [5]–[8]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Summary Table [5]–[8]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508760"/>
            <a:ext cx="1234439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57400" y="1508760"/>
            <a:ext cx="1280160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83280" y="1508760"/>
            <a:ext cx="1737360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66360" y="1508760"/>
            <a:ext cx="2148840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60920" y="1508760"/>
            <a:ext cx="1965960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72600" y="1508760"/>
            <a:ext cx="2011680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1975104"/>
            <a:ext cx="1234439" cy="98755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057400" y="1975104"/>
            <a:ext cx="12801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83280" y="1975104"/>
            <a:ext cx="17373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66360" y="1975104"/>
            <a:ext cx="214884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60920" y="1975104"/>
            <a:ext cx="19659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372600" y="1975104"/>
            <a:ext cx="20116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7240" y="3035808"/>
            <a:ext cx="1234439" cy="98755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057400" y="3035808"/>
            <a:ext cx="128016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83280" y="3035808"/>
            <a:ext cx="173736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166360" y="3035808"/>
            <a:ext cx="214884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60920" y="3035808"/>
            <a:ext cx="196596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372600" y="3035808"/>
            <a:ext cx="201168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7240" y="4096512"/>
            <a:ext cx="1234439" cy="98755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057400" y="4096512"/>
            <a:ext cx="12801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83280" y="4096512"/>
            <a:ext cx="17373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166360" y="4096512"/>
            <a:ext cx="214884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60920" y="4096512"/>
            <a:ext cx="19659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372600" y="4096512"/>
            <a:ext cx="20116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77240" y="5157216"/>
            <a:ext cx="1234439" cy="98755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057400" y="5157216"/>
            <a:ext cx="128016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383280" y="5157216"/>
            <a:ext cx="173736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66360" y="5157216"/>
            <a:ext cx="214884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360920" y="5157216"/>
            <a:ext cx="196596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372600" y="5157216"/>
            <a:ext cx="2011680" cy="9875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2103" y="1572768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Ref. / 年份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12264" y="1572768"/>
            <a:ext cx="11795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研究問題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38144" y="1572768"/>
            <a:ext cx="1636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AI 方法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21224" y="1572768"/>
            <a:ext cx="20482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領域知識與資料集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15784" y="157276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主要研究發現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27464" y="1572768"/>
            <a:ext cx="1911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與本專題相關限制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" y="2066544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[5] Tzeng et al.</a:t>
            </a:r>
          </a:p>
          <a:p>
            <a:pPr algn="l">
              <a:lnSpc>
                <a:spcPct val="118000"/>
              </a:lnSpc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Biometrics (2023)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30552" y="2066544"/>
            <a:ext cx="1143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校正台灣 AirBox 空間異質讀值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56432" y="2066544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空間變動係數模型與異質誤差估計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9512" y="2066544"/>
            <a:ext cx="20116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台灣 TAQMN 參考站與 AirBox 差異；2020 逐時配對資料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34072" y="2066544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報告 RMSE 改善約 38%–68%，並提供不確定區間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45752" y="2066544"/>
            <a:ext cx="1874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聚焦 PM2.5 校正；低成本感測器結果不可直接套用官方站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3127248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[6] Dong et al.</a:t>
            </a:r>
          </a:p>
          <a:p>
            <a:pPr algn="l">
              <a:lnSpc>
                <a:spcPct val="118000"/>
              </a:lnSpc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STOTEN (2025)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30552" y="3127248"/>
            <a:ext cx="1143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評估低成本感測器校正與驗證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56432" y="3127248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線性／非線性校正、溫濕度特徵與 Bland–Altman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9512" y="3127248"/>
            <a:ext cx="20116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PM2.5、NO2、CO、O3 感測表現；TSI 與參考儀器共置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34072" y="3127248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溫濕度特徵在驗證集改善不一致；部分非線性模型過度擬合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45752" y="3127248"/>
            <a:ext cx="1874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受型號、污染物與地點影響，不可假定模型可跨站轉移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" y="4187952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[7] Fang et al.</a:t>
            </a:r>
          </a:p>
          <a:p>
            <a:pPr algn="l">
              <a:lnSpc>
                <a:spcPct val="118000"/>
              </a:lnSpc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STOTEN (2025)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4187952"/>
            <a:ext cx="1143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評估真實部署前後校正斜率變化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56432" y="4187952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部署前後校正對照與多變量迴歸分析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39512" y="4187952"/>
            <a:ext cx="20116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溫濕度、部署時間與暴露量；猶他州 11 戶 19 台感測器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34072" y="4187952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高濕度與較長部署時間顯著改變斜率；暴露量影響截距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45752" y="4187952"/>
            <a:ext cx="1874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住宅感測器發現不可直接推廣至台灣官方測站或所有設備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392" y="5248655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[8] Lekamge &amp;</a:t>
            </a:r>
          </a:p>
          <a:p>
            <a:pPr algn="l">
              <a:lnSpc>
                <a:spcPct val="118000"/>
              </a:lnSpc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Oswin (2025)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5248655"/>
            <a:ext cx="1143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即時估算低成本 PM2.5 濕度偏差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56432" y="5248655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雙 Plantower 感測器搭配乾燥器滾動修正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39512" y="5248655"/>
            <a:ext cx="20116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相對濕度與氣膠吸濕成長影響；澳洲 PMS7003 配對觀測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34072" y="5248655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乾燥器使所報 PM2.5 濃度降低約 25%–40%，展示修正概念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45752" y="5248655"/>
            <a:ext cx="1874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屬概念驗證；修正因子仍需跨季節、粒子組成與長期驗證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對應 Proposal 第 2.1 節研究摘要表（Ref. [5]–[8]）：聚焦台灣 AirBox 空間校正與 2025 低成本感測器最新實證限制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研究綜合與 Research Gap｜從文獻到專題定位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Existing → Gap → Our Project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600200"/>
            <a:ext cx="2450592" cy="34747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41832" y="2487168"/>
            <a:ext cx="2121408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20440" y="1600200"/>
            <a:ext cx="2450592" cy="347472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85032" y="2487168"/>
            <a:ext cx="2121408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63640" y="1600200"/>
            <a:ext cx="2450592" cy="3474720"/>
          </a:xfrm>
          <a:prstGeom prst="roundRect">
            <a:avLst>
              <a:gd name="adj" fmla="val 6000"/>
            </a:avLst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28231" y="2487168"/>
            <a:ext cx="2121408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006840" y="1600200"/>
            <a:ext cx="2450592" cy="347472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71432" y="2487168"/>
            <a:ext cx="2121408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" y="5303520"/>
            <a:ext cx="10680192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" y="1737360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50" b="1">
                <a:solidFill>
                  <a:srgbClr val="0F172A"/>
                </a:solidFill>
                <a:latin typeface="Noto Sans CJK TC"/>
              </a:rPr>
              <a:t>① Existing Research</a:t>
            </a:r>
          </a:p>
          <a:p>
            <a:pPr algn="l">
              <a:lnSpc>
                <a:spcPct val="120000"/>
              </a:lnSpc>
            </a:pPr>
            <a:r>
              <a:rPr sz="1550" b="1">
                <a:solidFill>
                  <a:srgbClr val="0F172A"/>
                </a:solidFill>
                <a:latin typeface="Noto Sans CJK TC"/>
              </a:rPr>
              <a:t>既有研究已涵蓋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2670048"/>
            <a:ext cx="2121408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• 台灣 PM2.5 預測 [4]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• 台灣 AirBox 空間校正 [5]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• 空品時序異常偵測 [2]</a:t>
            </a:r>
          </a:p>
          <a:p>
            <a:pPr algn="l">
              <a:lnSpc>
                <a:spcPct val="124000"/>
              </a:lnSpc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• 跨區域多代理空品分析 (Neuro-Air) [1]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282696" y="3182112"/>
            <a:ext cx="182880" cy="219456"/>
          </a:xfrm>
          <a:prstGeom prst="righ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85032" y="1737360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50" b="1">
                <a:solidFill>
                  <a:srgbClr val="0F172A"/>
                </a:solidFill>
                <a:latin typeface="Noto Sans CJK TC"/>
              </a:rPr>
              <a:t>② Limitations</a:t>
            </a:r>
          </a:p>
          <a:p>
            <a:pPr algn="l">
              <a:lnSpc>
                <a:spcPct val="120000"/>
              </a:lnSpc>
            </a:pPr>
            <a:r>
              <a:rPr sz="1550" b="1">
                <a:solidFill>
                  <a:srgbClr val="0F172A"/>
                </a:solidFill>
                <a:latin typeface="Noto Sans CJK TC"/>
              </a:rPr>
              <a:t>現有方法的不足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5032" y="2670048"/>
            <a:ext cx="2121408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• 單純「LLM 接空品資料」已非新穎貢獻 [1]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• 預測／校正模型不處理自然語言問答與來源追溯</a:t>
            </a:r>
          </a:p>
          <a:p>
            <a:pPr algn="l">
              <a:lnSpc>
                <a:spcPct val="124000"/>
              </a:lnSpc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• 缺乏台灣環境部歷史資料衝突與缺值驗證 [9]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025896" y="3182112"/>
            <a:ext cx="182880" cy="219456"/>
          </a:xfrm>
          <a:prstGeom prst="righ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1" y="1737360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50" b="1">
                <a:solidFill>
                  <a:srgbClr val="0F172A"/>
                </a:solidFill>
                <a:latin typeface="Noto Sans CJK TC"/>
              </a:rPr>
              <a:t>③ Research Gap</a:t>
            </a:r>
          </a:p>
          <a:p>
            <a:pPr algn="l">
              <a:lnSpc>
                <a:spcPct val="120000"/>
              </a:lnSpc>
            </a:pPr>
            <a:r>
              <a:rPr sz="1550" b="1">
                <a:solidFill>
                  <a:srgbClr val="0F172A"/>
                </a:solidFill>
                <a:latin typeface="Noto Sans CJK TC"/>
              </a:rPr>
              <a:t>本專題鎖定之缺口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1" y="2670048"/>
            <a:ext cx="2121408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• 尚無以環境部 AQX_P_488 為基礎，專門評估台灣 AQI 地點／時間問答的基準集</a:t>
            </a:r>
          </a:p>
          <a:p>
            <a:pPr algn="l">
              <a:lnSpc>
                <a:spcPct val="124000"/>
              </a:lnSpc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• 缺乏同步核對數值、測站與來源紀錄之系統實驗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769096" y="3182112"/>
            <a:ext cx="182880" cy="219456"/>
          </a:xfrm>
          <a:prstGeom prst="righ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71432" y="1737360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50" b="1">
                <a:solidFill>
                  <a:srgbClr val="0F172A"/>
                </a:solidFill>
                <a:latin typeface="Noto Sans CJK TC"/>
              </a:rPr>
              <a:t>④ Our Project</a:t>
            </a:r>
          </a:p>
          <a:p>
            <a:pPr algn="l">
              <a:lnSpc>
                <a:spcPct val="120000"/>
              </a:lnSpc>
            </a:pPr>
            <a:r>
              <a:rPr sz="1550" b="1">
                <a:solidFill>
                  <a:srgbClr val="0F172A"/>
                </a:solidFill>
                <a:latin typeface="Noto Sans CJK TC"/>
              </a:rPr>
              <a:t>課堂研究具體貢獻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2670048"/>
            <a:ext cx="2121408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• 在本地資料與環境部規則下進行可重現整合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• 分離 Planner 與確定性計算，逐項綁定來源</a:t>
            </a:r>
          </a:p>
          <a:p>
            <a:pPr algn="l">
              <a:lnSpc>
                <a:spcPct val="124000"/>
              </a:lnSpc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• 以 60 題基準比較三種方法與失敗邊界</a:t>
            </a:r>
          </a:p>
        </p:txBody>
      </p:sp>
      <p:pic>
        <p:nvPicPr>
          <p:cNvPr id="35" name="Picture 34" descr="ic_blue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394960"/>
            <a:ext cx="676656" cy="676656"/>
          </a:xfrm>
          <a:prstGeom prst="rect">
            <a:avLst/>
          </a:prstGeom>
          <a:ln>
            <a:noFill/>
          </a:ln>
        </p:spPr>
      </p:pic>
      <p:sp>
        <p:nvSpPr>
          <p:cNvPr id="36" name="TextBox 35"/>
          <p:cNvSpPr txBox="1"/>
          <p:nvPr/>
        </p:nvSpPr>
        <p:spPr>
          <a:xfrm>
            <a:off x="1783080" y="5431536"/>
            <a:ext cx="95097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0F4C81"/>
                </a:solidFill>
                <a:latin typeface="Noto Sans CJK TC"/>
              </a:rPr>
              <a:t>務實研究定位（Honest Scope）：本專題不宣稱「第一個空品 Agent」或新演算法，而是驗證「結合檢索、確定性計算與領域規則的受限 Agent」能否在台灣 AQX_P_488 條件下降低無來源數值與錯誤解讀。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對應 Proposal 第 2.2 節：採用窄而可驗證的研究缺口，不宣稱全球無相似工具，亦不宣稱提出新 Agent 架構 [1][2][4][5][9]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Deep Research Q1（一）｜核心思維模式 1–3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Q1: Mindsets 1–3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572768"/>
            <a:ext cx="3364992" cy="4590288"/>
          </a:xfrm>
          <a:prstGeom prst="roundRect">
            <a:avLst>
              <a:gd name="adj" fmla="val 6000"/>
            </a:avLst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96695" y="2267712"/>
            <a:ext cx="292608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16552" y="1572768"/>
            <a:ext cx="3364992" cy="4590288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36008" y="2267712"/>
            <a:ext cx="292608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55864" y="1572768"/>
            <a:ext cx="3364992" cy="4590288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75320" y="2267712"/>
            <a:ext cx="292608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6695" y="177393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思維 1：AQI 是多污染物摘要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5" y="2514600"/>
            <a:ext cx="292608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核心意義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：AQI 取各污染物副指標最大值，單看 AQI 會隱藏真正超標的關鍵污染物。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文獻證據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：環境部 AQI 定義規範 [10]。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系統設計影響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：回答必須同時列出 AQI、主要污染物、濃度與平均時間；若欄位缺漏須明示。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177393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思維 2：讀值僅代表周遭條件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2514600"/>
            <a:ext cx="292608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核心意義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：測站讀值受道路、建物與局部氣流影響，不等於使用者的個人實際吸入暴露量。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文獻證據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：US EPA 感測器布建指南 [11] 與 WHO 2025 暴露摘要 [13]。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系統設計影響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：支援指定或鄰近測站比較，但嚴禁將單站讀值直接寫成個人暴露量。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77393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思維 3：量測品質決定可答範圍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514600"/>
            <a:ext cx="292608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核心意義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：參考級測站與低成本感測器品質不同；校正效果會隨溫濕度與部署地點改變。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文獻證據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：Dong 等 (2025) 校正驗證 [6] 與 US EPA 共置規範 [11]。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系統設計影響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：核心分析僅採用環境部官方站點資料；IoT 感測器留作條件式擴充，不混入真值。</a:t>
            </a:r>
          </a:p>
        </p:txBody>
      </p:sp>
      <p:pic>
        <p:nvPicPr>
          <p:cNvPr id="27" name="Picture 26" descr="ic_blue_se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6364224"/>
            <a:ext cx="384048" cy="384048"/>
          </a:xfrm>
          <a:prstGeom prst="rect">
            <a:avLst/>
          </a:prstGeom>
          <a:ln>
            <a:noFill/>
          </a:ln>
        </p:spPr>
      </p:pic>
      <p:sp>
        <p:nvSpPr>
          <p:cNvPr id="28" name="TextBox 27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對應 Proposal 第 3 節 Q1（思維 1–3）：從指標定義、空間代表性與資料品質確立系統邊界 [6][10][11][13]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Deep Research Q1（二）｜核心思維模式 4–5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Q1: Mindsets 4–5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572768"/>
            <a:ext cx="3364992" cy="4590288"/>
          </a:xfrm>
          <a:prstGeom prst="roundRect">
            <a:avLst>
              <a:gd name="adj" fmla="val 6000"/>
            </a:avLst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96695" y="2267712"/>
            <a:ext cx="292608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16552" y="1572768"/>
            <a:ext cx="3364992" cy="4590288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36008" y="2267712"/>
            <a:ext cx="292608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55864" y="1572768"/>
            <a:ext cx="3364992" cy="4590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75320" y="2267712"/>
            <a:ext cx="292608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6695" y="177393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思維 4：先對齊時間尺度再比較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5" y="2514600"/>
            <a:ext cx="292608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核心意義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：不同污染物對應特定平均時間（逐時、8 小時、24 小時），不可直接混為一談。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文獻證據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：環境部 AQI 規範 [10] 與 WHO 全球空品指引短期／長期標準 [12]。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系統設計影響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：強制標示台灣時區、查詢時間窗與聚合方式，確保比較基準一致。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177393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思維 5：相關性不等於污染源因果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2514600"/>
            <a:ext cx="292608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核心意義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：風向與濃度同時變化僅描述共現現象；來源歸因需完整排放、氣象與傳輸模型。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文獻證據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：Neuro-Air (2026) 亦指出來源歸因與健康判斷需專業審查 [1]。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系統設計影響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：僅報告有紀錄支持的時序或站點模式；嚴禁判定污染源因果或給出醫療診斷。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77393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4C81"/>
                </a:solidFill>
                <a:latin typeface="Noto Sans CJK TC"/>
              </a:rPr>
              <a:t>五項思維之系統設計匯總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514600"/>
            <a:ext cx="292608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輸入與檢索層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：鎖定環境部 88 個官方測站，強制對齊台灣時間與缺值標記。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計算與規則層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：由程式工具計算趨勢與比較，並附加主要污染物與平均時間說明。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輸出稽核層</a:t>
            </a:r>
            <a:r>
              <a:rPr sz="1400" b="0">
                <a:solidFill>
                  <a:srgbClr val="334155"/>
                </a:solidFill>
                <a:latin typeface="Noto Sans CJK TC"/>
              </a:rPr>
              <a:t>：逐項驗證測站、時間與數值；自動過濾無來源推論、因果歸因與醫療建議。</a:t>
            </a:r>
          </a:p>
        </p:txBody>
      </p:sp>
      <p:pic>
        <p:nvPicPr>
          <p:cNvPr id="27" name="Picture 26" descr="ic_blue_g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6364224"/>
            <a:ext cx="384048" cy="384048"/>
          </a:xfrm>
          <a:prstGeom prst="rect">
            <a:avLst/>
          </a:prstGeom>
          <a:ln>
            <a:noFill/>
          </a:ln>
        </p:spPr>
      </p:pic>
      <p:sp>
        <p:nvSpPr>
          <p:cNvPr id="28" name="TextBox 27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對應 Proposal 第 3 節 Q1（思維 4–5）：將領域專家思維完整映射為 Agent 的硬性約束規則 [1][10][12]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Deep Research Q2｜三個重要專業爭論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Q2: 3 Key Controversies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508760"/>
            <a:ext cx="1645920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68880" y="1508760"/>
            <a:ext cx="2194560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9160" y="1508760"/>
            <a:ext cx="2286000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40880" y="1508760"/>
            <a:ext cx="2011680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1508760"/>
            <a:ext cx="2286000" cy="4023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1993392"/>
            <a:ext cx="1645920" cy="1316736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68880" y="1993392"/>
            <a:ext cx="2194560" cy="1316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09160" y="1993392"/>
            <a:ext cx="2286000" cy="1316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40880" y="1993392"/>
            <a:ext cx="2011680" cy="1316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98280" y="1993392"/>
            <a:ext cx="2286000" cy="1316736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401568"/>
            <a:ext cx="1645920" cy="1316736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468880" y="3401568"/>
            <a:ext cx="2194560" cy="131673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09160" y="3401568"/>
            <a:ext cx="2286000" cy="131673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040880" y="3401568"/>
            <a:ext cx="2011680" cy="131673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98280" y="3401568"/>
            <a:ext cx="2286000" cy="1316736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" y="4809744"/>
            <a:ext cx="1645920" cy="1316736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468880" y="4809744"/>
            <a:ext cx="2194560" cy="1316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709160" y="4809744"/>
            <a:ext cx="2286000" cy="1316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040880" y="4809744"/>
            <a:ext cx="2011680" cy="1316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098280" y="4809744"/>
            <a:ext cx="2286000" cy="1316736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3816" y="1572768"/>
            <a:ext cx="1581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0F172A"/>
                </a:solidFill>
                <a:latin typeface="Noto Sans CJK TC"/>
              </a:rPr>
              <a:t>爭論議題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05456" y="1572768"/>
            <a:ext cx="2130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0F172A"/>
                </a:solidFill>
                <a:latin typeface="Noto Sans CJK TC"/>
              </a:rPr>
              <a:t>觀點 A：擴張／複雜／自主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5736" y="1572768"/>
            <a:ext cx="22219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0F172A"/>
                </a:solidFill>
                <a:latin typeface="Noto Sans CJK TC"/>
              </a:rPr>
              <a:t>觀點 B：嚴謹／簡單／工具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7456" y="1572768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0F172A"/>
                </a:solidFill>
                <a:latin typeface="Noto Sans CJK TC"/>
              </a:rPr>
              <a:t>目前共識（Consensus）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4855" y="1572768"/>
            <a:ext cx="22219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0F172A"/>
                </a:solidFill>
                <a:latin typeface="Noto Sans CJK TC"/>
              </a:rPr>
              <a:t>未解問題與本專題決策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2084832"/>
            <a:ext cx="1508760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1">
                <a:solidFill>
                  <a:srgbClr val="0F172A"/>
                </a:solidFill>
                <a:latin typeface="Noto Sans CJK TC"/>
              </a:rPr>
              <a:t>爭論一：</a:t>
            </a:r>
          </a:p>
          <a:p>
            <a:pPr algn="l">
              <a:lnSpc>
                <a:spcPct val="118000"/>
              </a:lnSpc>
            </a:pPr>
            <a:r>
              <a:rPr sz="1220" b="1">
                <a:solidFill>
                  <a:srgbClr val="0F172A"/>
                </a:solidFill>
                <a:latin typeface="Noto Sans CJK TC"/>
              </a:rPr>
              <a:t>低成本感測網路能否取代官方站？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2032" y="2084832"/>
            <a:ext cx="2057400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成本低、密度高，可補足局部觀測；台灣 AirBox 空間校正改善 RMSE 約 38%–68% [5]。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2084832"/>
            <a:ext cx="2148839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受型號、濕度與部署時間影響；EPA 列為補充來源，2025 驗證顯示效果未必跨站成立 [6][7][11]。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4032" y="2084832"/>
            <a:ext cx="1874519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可補充高密度空間資訊，但須搭配參考站、共置驗證與品質說明。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71432" y="2084832"/>
            <a:ext cx="2148839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• 未解：跨地點與季節如何轉移？</a:t>
            </a:r>
          </a:p>
          <a:p>
            <a:pPr algn="l">
              <a:lnSpc>
                <a:spcPct val="118000"/>
              </a:lnSpc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• 決策：核心分析只用環境部官方資料，不混入未驗證感測器。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" y="3493008"/>
            <a:ext cx="1508760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1">
                <a:solidFill>
                  <a:srgbClr val="0F172A"/>
                </a:solidFill>
                <a:latin typeface="Noto Sans CJK TC"/>
              </a:rPr>
              <a:t>爭論二：</a:t>
            </a:r>
          </a:p>
          <a:p>
            <a:pPr algn="l">
              <a:lnSpc>
                <a:spcPct val="118000"/>
              </a:lnSpc>
            </a:pPr>
            <a:r>
              <a:rPr sz="1220" b="1">
                <a:solidFill>
                  <a:srgbClr val="0F172A"/>
                </a:solidFill>
                <a:latin typeface="Noto Sans CJK TC"/>
              </a:rPr>
              <a:t>空品校正應採簡單或複雜 ML？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42032" y="3493008"/>
            <a:ext cx="2057400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非線性模型可捕捉溫濕度與濃度交互作用，提升訓練集預測表現 [5]。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82312" y="3493008"/>
            <a:ext cx="2148839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Dong 等 (2025) 指出溫濕度改善在驗證集不一致且易過度擬合；部署前後斜率會改變 [6][7]。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4032" y="3493008"/>
            <a:ext cx="1874519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必須以獨立時間窗或獨立站點驗證決定方法，不能只看訓練集。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71432" y="3493008"/>
            <a:ext cx="2148839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• 未解：準確度與跨站移轉如何取捨？</a:t>
            </a:r>
          </a:p>
          <a:p>
            <a:pPr algn="l">
              <a:lnSpc>
                <a:spcPct val="118000"/>
              </a:lnSpc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• 決策：先比較確定性分析與簡單持續性基準，不以校正為前提。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" y="4901183"/>
            <a:ext cx="1508760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1">
                <a:solidFill>
                  <a:srgbClr val="0F172A"/>
                </a:solidFill>
                <a:latin typeface="Noto Sans CJK TC"/>
              </a:rPr>
              <a:t>爭論三：</a:t>
            </a:r>
          </a:p>
          <a:p>
            <a:pPr algn="l">
              <a:lnSpc>
                <a:spcPct val="118000"/>
              </a:lnSpc>
            </a:pPr>
            <a:r>
              <a:rPr sz="1220" b="1">
                <a:solidFill>
                  <a:srgbClr val="0F172A"/>
                </a:solidFill>
                <a:latin typeface="Noto Sans CJK TC"/>
              </a:rPr>
              <a:t>Agent 應自由推理或由工具計算？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42032" y="4901183"/>
            <a:ext cx="2057400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多代理可拆解資料工程與解說；Neuro-Air 展示 317 題跨資料源多步驟流程 [1]。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82312" y="4901183"/>
            <a:ext cx="2148839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數值與來源應由可稽核程式計算產生；執行正確不等於環境專業判斷正確 [1]。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4032" y="4901183"/>
            <a:ext cx="1874519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0" b="0">
                <a:solidFill>
                  <a:srgbClr val="334155"/>
                </a:solidFill>
                <a:latin typeface="Noto Sans CJK TC"/>
              </a:rPr>
              <a:t>LLM 負責理解問題與組織文字，程式工具負責計算數值並保留來源。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71432" y="4901183"/>
            <a:ext cx="2148839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• 未解：多代理成本能否換得足夠改善？</a:t>
            </a:r>
          </a:p>
          <a:p>
            <a:pPr algn="l">
              <a:lnSpc>
                <a:spcPct val="118000"/>
              </a:lnSpc>
            </a:pPr>
            <a:r>
              <a:rPr sz="1220" b="1">
                <a:solidFill>
                  <a:srgbClr val="0F4C81"/>
                </a:solidFill>
                <a:latin typeface="Noto Sans CJK TC"/>
              </a:rPr>
              <a:t>• 決策：以小型 Planner 搭配確定性工具起步，實驗後再評估。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遵循建議結構：觀點 A ↔ 觀點 B → Evidence → Consensus → Unresolved Problems &amp; 本專題設計決策 [1][5][6][7][11]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Deep Research Q3｜十個領域深度理解問題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Q3: 10 Deep Questions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508760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5256" y="1600200"/>
            <a:ext cx="2788920" cy="274320"/>
          </a:xfrm>
          <a:prstGeom prst="roundRect">
            <a:avLst>
              <a:gd name="adj" fmla="val 3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7240" y="2459736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5256" y="2551176"/>
            <a:ext cx="2788920" cy="274320"/>
          </a:xfrm>
          <a:prstGeom prst="roundRect">
            <a:avLst>
              <a:gd name="adj" fmla="val 3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7240" y="3410712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5256" y="3502152"/>
            <a:ext cx="2788920" cy="274320"/>
          </a:xfrm>
          <a:prstGeom prst="roundRect">
            <a:avLst>
              <a:gd name="adj" fmla="val 3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4361688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05256" y="4453127"/>
            <a:ext cx="2788920" cy="274320"/>
          </a:xfrm>
          <a:prstGeom prst="roundRect">
            <a:avLst>
              <a:gd name="adj" fmla="val 3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" y="5312664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05256" y="5404104"/>
            <a:ext cx="2788920" cy="274320"/>
          </a:xfrm>
          <a:prstGeom prst="roundRect">
            <a:avLst>
              <a:gd name="adj" fmla="val 3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17920" y="1508760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45936" y="1600200"/>
            <a:ext cx="2788920" cy="274320"/>
          </a:xfrm>
          <a:prstGeom prst="roundRect">
            <a:avLst>
              <a:gd name="adj" fmla="val 3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17920" y="2459736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345936" y="2551176"/>
            <a:ext cx="2788920" cy="274320"/>
          </a:xfrm>
          <a:prstGeom prst="roundRect">
            <a:avLst>
              <a:gd name="adj" fmla="val 3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17920" y="3410712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345936" y="3502152"/>
            <a:ext cx="2788920" cy="274320"/>
          </a:xfrm>
          <a:prstGeom prst="roundRect">
            <a:avLst>
              <a:gd name="adj" fmla="val 3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0" y="4361688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45936" y="4453127"/>
            <a:ext cx="2788920" cy="274320"/>
          </a:xfrm>
          <a:prstGeom prst="roundRect">
            <a:avLst>
              <a:gd name="adj" fmla="val 3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217920" y="5312664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345936" y="5404104"/>
            <a:ext cx="2788920" cy="274320"/>
          </a:xfrm>
          <a:prstGeom prst="roundRect">
            <a:avLst>
              <a:gd name="adj" fmla="val 3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1832" y="1627631"/>
            <a:ext cx="2715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Q1｜Why：空間代表性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1929384"/>
            <a:ext cx="4956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0F172A"/>
                </a:solidFill>
                <a:latin typeface="Noto Sans CJK TC"/>
              </a:rPr>
              <a:t>同一小時兩測站 PM2.5 不同，為何不代表其中一站故障？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" y="2578608"/>
            <a:ext cx="2715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Q2｜What-if：指標解讀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2880360"/>
            <a:ext cx="4956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0F172A"/>
                </a:solidFill>
                <a:latin typeface="Noto Sans CJK TC"/>
              </a:rPr>
              <a:t>若 AQI 未附主要污染物，使用者能推論與不能推論什麼？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" y="3529584"/>
            <a:ext cx="2715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Q3｜Scenario：缺值比較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3831336"/>
            <a:ext cx="4956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0F172A"/>
                </a:solidFill>
                <a:latin typeface="Noto Sans CJK TC"/>
              </a:rPr>
              <a:t>若測站資料僅覆蓋單日部分時段，系統應如何比較兩日趨勢？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" y="4480559"/>
            <a:ext cx="2715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Q4｜Failure：資料核對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782312"/>
            <a:ext cx="4956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0F172A"/>
                </a:solidFill>
                <a:latin typeface="Noto Sans CJK TC"/>
              </a:rPr>
              <a:t>若 AQI、主要污染物與濃度平均值不一致，應先檢查哪一層？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5431536"/>
            <a:ext cx="2715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Q5｜Evidence：傳輸歸因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5733288"/>
            <a:ext cx="4956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0F172A"/>
                </a:solidFill>
                <a:latin typeface="Noto Sans CJK TC"/>
              </a:rPr>
              <a:t>風向與 PM2.5 同時變化時，還需什麼證據才足以討論傳輸方向？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1627631"/>
            <a:ext cx="2715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Q6｜Why：資料品質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1929384"/>
            <a:ext cx="4956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0F172A"/>
                </a:solidFill>
                <a:latin typeface="Noto Sans CJK TC"/>
              </a:rPr>
              <a:t>官方資料筆數增加是否一定代表站點覆蓋更完整？為什麼？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2578608"/>
            <a:ext cx="2715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Q7｜Trade-off：基準選擇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45936" y="2880360"/>
            <a:ext cx="4956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0F172A"/>
                </a:solidFill>
                <a:latin typeface="Noto Sans CJK TC"/>
              </a:rPr>
              <a:t>何時應優先使用簡單持續性基準，而不採複雜時序模型？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2512" y="3529584"/>
            <a:ext cx="2715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Q8｜Decision：衝突稽核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45936" y="3831336"/>
            <a:ext cx="4956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0F172A"/>
                </a:solidFill>
                <a:latin typeface="Noto Sans CJK TC"/>
              </a:rPr>
              <a:t>兩份同站同刻觀測有不同 AQI 時，應如何回覆並保留紀錄？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2512" y="4480559"/>
            <a:ext cx="2715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Q9｜Comparison：跨源對齊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45936" y="4782312"/>
            <a:ext cx="4956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0F172A"/>
                </a:solidFill>
                <a:latin typeface="Noto Sans CJK TC"/>
              </a:rPr>
              <a:t>低成本感測器與官方站不同步時，需具備哪些資訊才可比較？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5431536"/>
            <a:ext cx="2715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Q10｜Verification：證據評估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45936" y="5733288"/>
            <a:ext cx="4956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0F172A"/>
                </a:solidFill>
                <a:latin typeface="Noto Sans CJK TC"/>
              </a:rPr>
              <a:t>如何用可驗證測試區分「文字合理」與「確有觀測紀錄支持」？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對應 Proposal 第 3 節 Q3：涵蓋 Why、What-if、Trade-off、Failure Case、Evidence、Comparison、Design Decision 與 Scenario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系統設計（一）｜代表性使用情境與專題範圍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Scenarios &amp; 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572768"/>
            <a:ext cx="5074920" cy="1353312"/>
          </a:xfrm>
          <a:prstGeom prst="roundRect">
            <a:avLst>
              <a:gd name="adj" fmla="val 6000"/>
            </a:avLst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" y="3108960"/>
            <a:ext cx="5074920" cy="1353312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7240" y="4645152"/>
            <a:ext cx="5074920" cy="1353312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72200" y="1572768"/>
            <a:ext cx="5257800" cy="4425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2267712"/>
            <a:ext cx="480060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1719072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0F172A"/>
                </a:solidFill>
                <a:latin typeface="Noto Sans CJK TC"/>
              </a:rPr>
              <a:t>情境 1：單站逐時趨勢查詢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2084832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「台中某測站今天上午的 AQI 和 PM2.5 有什麼變化？」</a:t>
            </a:r>
          </a:p>
          <a:p>
            <a:pPr algn="l">
              <a:lnSpc>
                <a:spcPct val="120000"/>
              </a:lnSpc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➔ 檢索指定時段紀錄，計算起訖變化量與最高／最低值時點。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255264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0F172A"/>
                </a:solidFill>
                <a:latin typeface="Noto Sans CJK TC"/>
              </a:rPr>
              <a:t>情境 2：鄰近測站變化比較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621024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「指定時間內，哪幾個鄰近測站的 AQI 上升最多？」</a:t>
            </a:r>
          </a:p>
          <a:p>
            <a:pPr algn="l">
              <a:lnSpc>
                <a:spcPct val="120000"/>
              </a:lnSpc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➔ 對齊多站時間軸，排序變化幅度並標示缺值站點。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791456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0F172A"/>
                </a:solidFill>
                <a:latin typeface="Noto Sans CJK TC"/>
              </a:rPr>
              <a:t>情境 3：指標與主要污染物解讀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5157216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「這個 AQI 數值由哪個主要污染物帶動？資料時間是什麼時候？」</a:t>
            </a:r>
          </a:p>
          <a:p>
            <a:pPr algn="l">
              <a:lnSpc>
                <a:spcPct val="120000"/>
              </a:lnSpc>
            </a:pPr>
            <a:r>
              <a:rPr sz="1320" b="0">
                <a:solidFill>
                  <a:srgbClr val="334155"/>
                </a:solidFill>
                <a:latin typeface="Noto Sans CJK TC"/>
              </a:rPr>
              <a:t>➔ 依環境部規則解釋指標、主要污染物與時間窗 [10]。</a:t>
            </a:r>
          </a:p>
        </p:txBody>
      </p:sp>
      <p:pic>
        <p:nvPicPr>
          <p:cNvPr id="26" name="Picture 25" descr="ic_blue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82496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27" name="TextBox 26"/>
          <p:cNvSpPr txBox="1"/>
          <p:nvPr/>
        </p:nvSpPr>
        <p:spPr>
          <a:xfrm>
            <a:off x="7086600" y="175564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4C81"/>
                </a:solidFill>
                <a:latin typeface="Noto Sans CJK TC"/>
              </a:rPr>
              <a:t>Proposal 原型範圍與邊界設定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514600"/>
            <a:ext cx="48006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離線主資料集</a:t>
            </a:r>
            <a:r>
              <a:rPr sz="1380" b="0">
                <a:solidFill>
                  <a:srgbClr val="334155"/>
                </a:solidFill>
                <a:latin typeface="Noto Sans CJK TC"/>
              </a:rPr>
              <a:t>：以已下載之 2026/01/01–10/29 環境部 AQX_P_488 歷史 CSV 為主（606,137 筆、88 站）[9]。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原始檔稽核保存</a:t>
            </a:r>
            <a:r>
              <a:rPr sz="1380" b="0">
                <a:solidFill>
                  <a:srgbClr val="334155"/>
                </a:solidFill>
                <a:latin typeface="Noto Sans CJK TC"/>
              </a:rPr>
              <a:t>：原始 CSV 不覆寫，完整記錄檔名與 MD5 雜湊值。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時間涵蓋聲明</a:t>
            </a:r>
            <a:r>
              <a:rPr sz="1380" b="0">
                <a:solidFill>
                  <a:srgbClr val="334155"/>
                </a:solidFill>
                <a:latin typeface="Noto Sans CJK TC"/>
              </a:rPr>
              <a:t>：目前涵蓋 1 至 10 月可用時段，不宣稱完整年度季節性結論。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後續條件式擴充</a:t>
            </a:r>
            <a:r>
              <a:rPr sz="1380" b="0">
                <a:solidFill>
                  <a:srgbClr val="334155"/>
                </a:solidFill>
                <a:latin typeface="Noto Sans CJK TC"/>
              </a:rPr>
              <a:t>：AQX_P_432 即時 API 與民生公共物聯網感測器僅列為後續擴充，不作為評估成立前提。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對應 Proposal 第 4.1 節：明確界定離線主資料與回答範圍，確保評估基準可重現 [9][10]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系統設計（二）｜系統架構圖（①–⑨）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Architecture ①–⑨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572768"/>
            <a:ext cx="3291840" cy="1280160"/>
          </a:xfrm>
          <a:prstGeom prst="roundRect">
            <a:avLst>
              <a:gd name="adj" fmla="val 7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41832" y="2029967"/>
            <a:ext cx="2962656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53127" y="1572768"/>
            <a:ext cx="3291840" cy="1280160"/>
          </a:xfrm>
          <a:prstGeom prst="roundRect">
            <a:avLst>
              <a:gd name="adj" fmla="val 7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17719" y="2029967"/>
            <a:ext cx="2962656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29015" y="1572768"/>
            <a:ext cx="3291840" cy="1280160"/>
          </a:xfrm>
          <a:prstGeom prst="roundRect">
            <a:avLst>
              <a:gd name="adj" fmla="val 7000"/>
            </a:avLst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93607" y="2029967"/>
            <a:ext cx="2962656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3182112"/>
            <a:ext cx="3291840" cy="1280160"/>
          </a:xfrm>
          <a:prstGeom prst="roundRect">
            <a:avLst>
              <a:gd name="adj" fmla="val 7000"/>
            </a:avLst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41832" y="3639312"/>
            <a:ext cx="2962656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453127" y="3182112"/>
            <a:ext cx="3291840" cy="1280160"/>
          </a:xfrm>
          <a:prstGeom prst="roundRect">
            <a:avLst>
              <a:gd name="adj" fmla="val 7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17719" y="3639312"/>
            <a:ext cx="2962656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29015" y="3182112"/>
            <a:ext cx="3291840" cy="1280160"/>
          </a:xfrm>
          <a:prstGeom prst="roundRect">
            <a:avLst>
              <a:gd name="adj" fmla="val 7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93607" y="3639312"/>
            <a:ext cx="2962656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7240" y="4791456"/>
            <a:ext cx="3291840" cy="1280160"/>
          </a:xfrm>
          <a:prstGeom prst="roundRect">
            <a:avLst>
              <a:gd name="adj" fmla="val 7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1832" y="5248656"/>
            <a:ext cx="2962656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453127" y="4791456"/>
            <a:ext cx="3291840" cy="1280160"/>
          </a:xfrm>
          <a:prstGeom prst="roundRect">
            <a:avLst>
              <a:gd name="adj" fmla="val 7000"/>
            </a:avLst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617719" y="5248656"/>
            <a:ext cx="2962656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129015" y="4791456"/>
            <a:ext cx="3291840" cy="1280160"/>
          </a:xfrm>
          <a:prstGeom prst="roundRect">
            <a:avLst>
              <a:gd name="adj" fmla="val 7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93607" y="5248656"/>
            <a:ext cx="2962656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ght Arrow 32"/>
          <p:cNvSpPr/>
          <p:nvPr/>
        </p:nvSpPr>
        <p:spPr>
          <a:xfrm>
            <a:off x="4151376" y="2103120"/>
            <a:ext cx="219456" cy="201168"/>
          </a:xfrm>
          <a:prstGeom prst="righ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ght Arrow 33"/>
          <p:cNvSpPr/>
          <p:nvPr/>
        </p:nvSpPr>
        <p:spPr>
          <a:xfrm>
            <a:off x="7827264" y="2103120"/>
            <a:ext cx="219456" cy="201168"/>
          </a:xfrm>
          <a:prstGeom prst="righ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Down Arrow 34"/>
          <p:cNvSpPr/>
          <p:nvPr/>
        </p:nvSpPr>
        <p:spPr>
          <a:xfrm>
            <a:off x="9646920" y="2907792"/>
            <a:ext cx="219456" cy="201168"/>
          </a:xfrm>
          <a:prstGeom prst="down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Left Arrow 35"/>
          <p:cNvSpPr/>
          <p:nvPr/>
        </p:nvSpPr>
        <p:spPr>
          <a:xfrm>
            <a:off x="7827264" y="3712463"/>
            <a:ext cx="219456" cy="201168"/>
          </a:xfrm>
          <a:prstGeom prst="lef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Left Arrow 36"/>
          <p:cNvSpPr/>
          <p:nvPr/>
        </p:nvSpPr>
        <p:spPr>
          <a:xfrm>
            <a:off x="4151376" y="3712463"/>
            <a:ext cx="219456" cy="201168"/>
          </a:xfrm>
          <a:prstGeom prst="lef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Down Arrow 37"/>
          <p:cNvSpPr/>
          <p:nvPr/>
        </p:nvSpPr>
        <p:spPr>
          <a:xfrm>
            <a:off x="2313432" y="4517136"/>
            <a:ext cx="219456" cy="201168"/>
          </a:xfrm>
          <a:prstGeom prst="down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ight Arrow 38"/>
          <p:cNvSpPr/>
          <p:nvPr/>
        </p:nvSpPr>
        <p:spPr>
          <a:xfrm>
            <a:off x="4151376" y="5321808"/>
            <a:ext cx="219456" cy="201168"/>
          </a:xfrm>
          <a:prstGeom prst="righ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ight Arrow 39"/>
          <p:cNvSpPr/>
          <p:nvPr/>
        </p:nvSpPr>
        <p:spPr>
          <a:xfrm>
            <a:off x="7827264" y="5321808"/>
            <a:ext cx="219456" cy="201168"/>
          </a:xfrm>
          <a:prstGeom prst="righ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1832" y="1682495"/>
            <a:ext cx="29626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① 使用者問題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" y="2157984"/>
            <a:ext cx="296265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334155"/>
                </a:solidFill>
                <a:latin typeface="Noto Sans CJK TC"/>
              </a:rPr>
              <a:t>接收地點／測站、時間窗、污染物或指標解讀需求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19" y="1682495"/>
            <a:ext cx="29626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② Planner 解析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19" y="2157984"/>
            <a:ext cx="296265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334155"/>
                </a:solidFill>
                <a:latin typeface="Noto Sans CJK TC"/>
              </a:rPr>
              <a:t>自然語言轉結構化任務；條件不明時先追問或採明示預設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3607" y="1682495"/>
            <a:ext cx="29626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③ 資料檢索模組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3607" y="2157984"/>
            <a:ext cx="296265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334155"/>
                </a:solidFill>
                <a:latin typeface="Noto Sans CJK TC"/>
              </a:rPr>
              <a:t>依測站編號與時間窗讀取本機 AQX_P_488 歷史 CSV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" y="3291840"/>
            <a:ext cx="29626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⑥ 數值分析工具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" y="3767328"/>
            <a:ext cx="296265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334155"/>
                </a:solidFill>
                <a:latin typeface="Noto Sans CJK TC"/>
              </a:rPr>
              <a:t>由確定性程式計算趨勢、變化量、持續性基準與測站排序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19" y="3291840"/>
            <a:ext cx="29626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⑤ 品質與時間對齊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19" y="3767328"/>
            <a:ext cx="296265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334155"/>
                </a:solidFill>
                <a:latin typeface="Noto Sans CJK TC"/>
              </a:rPr>
              <a:t>解析台灣時區、檢查缺值與連續性，並攔截同刻數值衝突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3607" y="3291840"/>
            <a:ext cx="29626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4C81"/>
                </a:solidFill>
                <a:latin typeface="Noto Sans CJK TC"/>
              </a:rPr>
              <a:t>④ 官方資料來源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93607" y="3767328"/>
            <a:ext cx="296265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334155"/>
                </a:solidFill>
                <a:latin typeface="Noto Sans CJK TC"/>
              </a:rPr>
              <a:t>環境部 AQX_P_488 逐時紀錄；原始檔不覆寫並留存 MD5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" y="4901184"/>
            <a:ext cx="29626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⑦ AQI 領域規則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" y="5376672"/>
            <a:ext cx="296265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334155"/>
                </a:solidFill>
                <a:latin typeface="Noto Sans CJK TC"/>
              </a:rPr>
              <a:t>依環境部定義解釋 AQI 與主要污染物，保留平均時間與單位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17719" y="4901184"/>
            <a:ext cx="29626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⑧ 證據核對模組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17719" y="5376672"/>
            <a:ext cx="296265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334155"/>
                </a:solidFill>
                <a:latin typeface="Noto Sans CJK TC"/>
              </a:rPr>
              <a:t>逐項驗證站點、時間、數值與檢索列一致；無根據則移除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93607" y="4901184"/>
            <a:ext cx="29626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⑨ 回答呈現輸出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93607" y="5376672"/>
            <a:ext cx="296265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334155"/>
                </a:solidFill>
                <a:latin typeface="Noto Sans CJK TC"/>
              </a:rPr>
              <a:t>回傳簡短結論、支持數值、來源時間與限制；拒答因果與診斷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對應 Proposal 第 4.2 節：各模組編號 ①–⑨ 職責分明，確保數字皆來自程式計算且逐項回連原始紀錄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系統設計（三）｜系統處理流程圖（Flowchart）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System Flowchart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572768"/>
            <a:ext cx="4160520" cy="448056"/>
          </a:xfrm>
          <a:prstGeom prst="roundRect">
            <a:avLst>
              <a:gd name="adj" fmla="val 10000"/>
            </a:avLst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6400800" y="2139696"/>
            <a:ext cx="219456" cy="219456"/>
          </a:xfrm>
          <a:prstGeom prst="down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34840" y="2523744"/>
            <a:ext cx="4160520" cy="448056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6400800" y="3090672"/>
            <a:ext cx="219456" cy="219456"/>
          </a:xfrm>
          <a:prstGeom prst="down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34840" y="3474720"/>
            <a:ext cx="4160520" cy="448056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own Arrow 19"/>
          <p:cNvSpPr/>
          <p:nvPr/>
        </p:nvSpPr>
        <p:spPr>
          <a:xfrm>
            <a:off x="6400800" y="4041648"/>
            <a:ext cx="219456" cy="219456"/>
          </a:xfrm>
          <a:prstGeom prst="down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34840" y="4425696"/>
            <a:ext cx="4160520" cy="448056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6400800" y="4992624"/>
            <a:ext cx="219456" cy="219456"/>
          </a:xfrm>
          <a:prstGeom prst="down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434840" y="5376672"/>
            <a:ext cx="4160520" cy="448056"/>
          </a:xfrm>
          <a:prstGeom prst="roundRect">
            <a:avLst>
              <a:gd name="adj" fmla="val 10000"/>
            </a:avLst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8668512" y="1700784"/>
            <a:ext cx="219456" cy="182880"/>
          </a:xfrm>
          <a:prstGeom prst="righ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961120" y="1572768"/>
            <a:ext cx="2468880" cy="448056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8668512" y="3602736"/>
            <a:ext cx="219456" cy="182880"/>
          </a:xfrm>
          <a:prstGeom prst="righ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961120" y="3474720"/>
            <a:ext cx="2468880" cy="448056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8668512" y="5504688"/>
            <a:ext cx="219456" cy="182880"/>
          </a:xfrm>
          <a:prstGeom prst="righ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61120" y="5376672"/>
            <a:ext cx="2468880" cy="448056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c_blue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694944" cy="694944"/>
          </a:xfrm>
          <a:prstGeom prst="rect">
            <a:avLst/>
          </a:prstGeom>
          <a:ln>
            <a:noFill/>
          </a:ln>
        </p:spPr>
      </p:pic>
      <p:sp>
        <p:nvSpPr>
          <p:cNvPr id="31" name="TextBox 30"/>
          <p:cNvSpPr txBox="1"/>
          <p:nvPr/>
        </p:nvSpPr>
        <p:spPr>
          <a:xfrm>
            <a:off x="1600200" y="1627632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1">
                <a:solidFill>
                  <a:srgbClr val="0F172A"/>
                </a:solidFill>
                <a:latin typeface="Noto Sans CJK TC"/>
              </a:rPr>
              <a:t>三大品質與邊界閘門</a:t>
            </a:r>
          </a:p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Noto Sans CJK TC"/>
              </a:rPr>
              <a:t>防止幻覺與過度推論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2423160"/>
            <a:ext cx="33832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條件釐清閘門</a:t>
            </a:r>
            <a:r>
              <a:rPr sz="1380" b="0">
                <a:solidFill>
                  <a:srgbClr val="334155"/>
                </a:solidFill>
                <a:latin typeface="Noto Sans CJK TC"/>
              </a:rPr>
              <a:t>：地點或時間不明時先追問或採明示預設，不自行猜測。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資料品質閘門</a:t>
            </a:r>
            <a:r>
              <a:rPr sz="1380" b="0">
                <a:solidFill>
                  <a:srgbClr val="334155"/>
                </a:solidFill>
                <a:latin typeface="Noto Sans CJK TC"/>
              </a:rPr>
              <a:t>：遇空集合、嚴重缺漏或同刻數值衝突，直接回報限制。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• 紀錄核對閘門</a:t>
            </a:r>
            <a:r>
              <a:rPr sz="1380" b="0">
                <a:solidFill>
                  <a:srgbClr val="334155"/>
                </a:solidFill>
                <a:latin typeface="Noto Sans CJK TC"/>
              </a:rPr>
              <a:t>：每項數值主張皆須對齊原始列；無根據推論一律移除。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1609344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0F172A"/>
                </a:solidFill>
                <a:latin typeface="Noto Sans CJK TC"/>
              </a:rPr>
              <a:t>① 接收問題 Q 與條件檢查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181051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334155"/>
                </a:solidFill>
                <a:latin typeface="Noto Sans CJK TC"/>
              </a:rPr>
              <a:t>解析目標地點／測站、時間窗與污染物；檢查條件是否明確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2560320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0F172A"/>
                </a:solidFill>
                <a:latin typeface="Noto Sans CJK TC"/>
              </a:rPr>
              <a:t>② 檢索 AQX_P_488 與時間標準化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2761487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334155"/>
                </a:solidFill>
                <a:latin typeface="Noto Sans CJK TC"/>
              </a:rPr>
              <a:t>讀取對應測站與時段紀錄，統一台灣時區並標記缺值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3511296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0F172A"/>
                </a:solidFill>
                <a:latin typeface="Noto Sans CJK TC"/>
              </a:rPr>
              <a:t>③ 資料品質與衝突閘門（Quality Gate）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3712463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334155"/>
                </a:solidFill>
                <a:latin typeface="Noto Sans CJK TC"/>
              </a:rPr>
              <a:t>檢查是否為空集合、時段缺漏過多或存在同站同刻數值衝突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4462272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0F172A"/>
                </a:solidFill>
                <a:latin typeface="Noto Sans CJK TC"/>
              </a:rPr>
              <a:t>④ 執行確定性分析與 AQI 領域規則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4663440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334155"/>
                </a:solidFill>
                <a:latin typeface="Noto Sans CJK TC"/>
              </a:rPr>
              <a:t>由程式工具計算趨勢、變化量、測站排序與主要污染物解讀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53712" y="541324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0F172A"/>
                </a:solidFill>
                <a:latin typeface="Noto Sans CJK TC"/>
              </a:rPr>
              <a:t>⑤ 逐項證據核對與格式化輸出 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5614416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334155"/>
                </a:solidFill>
                <a:latin typeface="Noto Sans CJK TC"/>
              </a:rPr>
              <a:t>核對測站、時間與數值紀錄；移除無根據主張後輸出結論與限制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1609344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4C81"/>
                </a:solidFill>
                <a:latin typeface="Noto Sans CJK TC"/>
              </a:rPr>
              <a:t>條件不明 ➔ 追問或明示預設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1810512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334155"/>
                </a:solidFill>
                <a:latin typeface="Noto Sans CJK TC"/>
              </a:rPr>
              <a:t>向使用者追問釐清，或清楚標示採用之預設範圍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3511296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4C81"/>
                </a:solidFill>
                <a:latin typeface="Noto Sans CJK TC"/>
              </a:rPr>
              <a:t>品質不足 ➔ 回報資料限制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3712463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334155"/>
                </a:solidFill>
                <a:latin typeface="Noto Sans CJK TC"/>
              </a:rPr>
              <a:t>直接回傳缺值時段、衝突狀態與資料更新時間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541324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4C81"/>
                </a:solidFill>
                <a:latin typeface="Noto Sans CJK TC"/>
              </a:rPr>
              <a:t>無證據支持 ➔ 移除／加註限制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561441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334155"/>
                </a:solidFill>
                <a:latin typeface="Noto Sans CJK TC"/>
              </a:rPr>
              <a:t>刪除無紀錄支持推論，嚴格排除因果與醫療建議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對應 Proposal 第 4.3 節：完整呈現 Input → Processing → Decision → Output 與異常處理分支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系統設計（四）｜核心演算法虛擬碼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Algorithm 1 (01–14)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536192"/>
            <a:ext cx="6995160" cy="46634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1536192"/>
            <a:ext cx="6995160" cy="45720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_blue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694944" cy="694944"/>
          </a:xfrm>
          <a:prstGeom prst="rect">
            <a:avLst/>
          </a:prstGeom>
          <a:ln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1600200" y="1627632"/>
            <a:ext cx="2697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1">
                <a:solidFill>
                  <a:srgbClr val="0F172A"/>
                </a:solidFill>
                <a:latin typeface="Noto Sans CJK TC"/>
              </a:rPr>
              <a:t>演算法設計四大保證</a:t>
            </a:r>
          </a:p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Noto Sans CJK TC"/>
              </a:rPr>
              <a:t>Deterministic 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395728"/>
            <a:ext cx="342900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Noto Sans CJK TC"/>
              </a:rPr>
              <a:t>• 行 01–03 意圖與站點解析</a:t>
            </a:r>
            <a:r>
              <a:rPr sz="1350" b="0">
                <a:solidFill>
                  <a:srgbClr val="334155"/>
                </a:solidFill>
                <a:latin typeface="Noto Sans CJK TC"/>
              </a:rPr>
              <a:t>：解析地點、時段與污染物；模糊時追問或採明示預設，映射至 88 站。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Noto Sans CJK TC"/>
              </a:rPr>
              <a:t>• 行 04–08 資料品質閘門</a:t>
            </a:r>
            <a:r>
              <a:rPr sz="1350" b="0">
                <a:solidFill>
                  <a:srgbClr val="334155"/>
                </a:solidFill>
                <a:latin typeface="Noto Sans CJK TC"/>
              </a:rPr>
              <a:t>：檢索並正規化時區與缺值；若空集合或衝突不可靠則回傳限制。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Noto Sans CJK TC"/>
              </a:rPr>
              <a:t>• 行 09–10 確定性計算與基準</a:t>
            </a:r>
            <a:r>
              <a:rPr sz="1350" b="0">
                <a:solidFill>
                  <a:srgbClr val="334155"/>
                </a:solidFill>
                <a:latin typeface="Noto Sans CJK TC"/>
              </a:rPr>
              <a:t>：執行趨勢、測站比較與 AQI 規則，並與門檻或持續性基準對照。</a:t>
            </a:r>
          </a:p>
          <a:p>
            <a:pPr algn="l">
              <a:lnSpc>
                <a:spcPct val="122000"/>
              </a:lnSpc>
            </a:pPr>
            <a:r>
              <a:rPr sz="1400" b="1">
                <a:solidFill>
                  <a:srgbClr val="0F172A"/>
                </a:solidFill>
                <a:latin typeface="Noto Sans CJK TC"/>
              </a:rPr>
              <a:t>• 行 11–14 紀錄級證據綁定</a:t>
            </a:r>
            <a:r>
              <a:rPr sz="1350" b="0">
                <a:solidFill>
                  <a:srgbClr val="334155"/>
                </a:solidFill>
                <a:latin typeface="Noto Sans CJK TC"/>
              </a:rPr>
              <a:t>：綁定測站、時間與數值；移除無紀錄支持主張後輸出 R。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609344"/>
            <a:ext cx="6629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FFFFFF"/>
                </a:solidFill>
                <a:latin typeface="Noto Sans CJK TC"/>
              </a:rPr>
              <a:t>Algorithm 1: Taiwan Air Quality Evidence Agent   |   Input: Q  ➔  Output: 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066543"/>
            <a:ext cx="6675120" cy="406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01: intent, place, period, pollutant ← parse(Q)</a:t>
            </a: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02: if place or period is ambiguous then ask a follow-up or apply a stated default</a:t>
            </a: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03: station_ids ← resolve_supported_stations(place)</a:t>
            </a: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04: records ← retrieve_AQX_P_488(station_ids, period)</a:t>
            </a: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05: if records are empty then return response_with_source_status_and_data_gap</a:t>
            </a: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06: records ← normalize_fields_timezone_and_missing_values(records)</a:t>
            </a: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07: quality ← check_duplicates_conflicts_completeness_and_freshness(records)</a:t>
            </a: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08: if quality makes the requested result unreliable then return limitation_response(quality)</a:t>
            </a: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09: result ← run_trend_station_comparison_or_AQI_rule(records, intent, pollutant)</a:t>
            </a: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10: result ← compare_with_threshold_or_persistence_baseline_if_applicable(result)</a:t>
            </a: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11: claims ← attach_station_time_value_and_source_to_each_result(result)</a:t>
            </a: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12: claims ← remove_or_qualify_claims_without_record_level_support(claims)</a:t>
            </a: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13: R ← format_answer_with_evidence_uncertainty_and_limits(claims, quality)</a:t>
            </a:r>
          </a:p>
          <a:p>
            <a:pPr algn="l">
              <a:lnSpc>
                <a:spcPct val="115000"/>
              </a:lnSpc>
            </a:pPr>
            <a:r>
              <a:rPr sz="1180" b="1">
                <a:solidFill>
                  <a:srgbClr val="0F172A"/>
                </a:solidFill>
                <a:latin typeface="Noto Sans CJK TC"/>
              </a:rPr>
              <a:t>14: return 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完整對應 Proposal 第 4.4 節：具備行號 01–14 之核心演算法，確保數字皆來自程式計算且每項主張回連原始紀錄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評估設計與預期成果｜60 題基準測試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Evaluation &amp; Outcomes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536192"/>
            <a:ext cx="3977639" cy="384048"/>
          </a:xfrm>
          <a:prstGeom prst="roundRect">
            <a:avLst>
              <a:gd name="adj" fmla="val 40000"/>
            </a:avLst>
          </a:prstGeom>
          <a:solidFill>
            <a:srgbClr val="99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0" y="2029968"/>
            <a:ext cx="1783080" cy="896112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0" y="2029968"/>
            <a:ext cx="457200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3017520"/>
            <a:ext cx="1783080" cy="658368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0" y="3017520"/>
            <a:ext cx="457200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0" y="3767328"/>
            <a:ext cx="1783080" cy="658368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0" y="3767328"/>
            <a:ext cx="45720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0" y="4517136"/>
            <a:ext cx="1783080" cy="658368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0" y="4517136"/>
            <a:ext cx="457200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0" y="5266944"/>
            <a:ext cx="1783080" cy="658368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0" y="5266944"/>
            <a:ext cx="45720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1591056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三種比較基準與預期成果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084831"/>
            <a:ext cx="3977639" cy="406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20" b="1">
                <a:solidFill>
                  <a:srgbClr val="0F172A"/>
                </a:solidFill>
                <a:latin typeface="Noto Sans CJK TC"/>
              </a:rPr>
              <a:t>• Baseline 1（LLM-only）</a:t>
            </a:r>
            <a:r>
              <a:rPr sz="1360" b="0">
                <a:solidFill>
                  <a:srgbClr val="334155"/>
                </a:solidFill>
                <a:latin typeface="Noto Sans CJK TC"/>
              </a:rPr>
              <a:t>：語言模型直接回答，無確定性查詢與規則工具支援。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20" b="1">
                <a:solidFill>
                  <a:srgbClr val="0F172A"/>
                </a:solidFill>
                <a:latin typeface="Noto Sans CJK TC"/>
              </a:rPr>
              <a:t>• Baseline 2（純確定性工具）</a:t>
            </a:r>
            <a:r>
              <a:rPr sz="1360" b="0">
                <a:solidFill>
                  <a:srgbClr val="334155"/>
                </a:solidFill>
                <a:latin typeface="Noto Sans CJK TC"/>
              </a:rPr>
              <a:t>：僅輸出查詢與計算腳本之表格／模板結果。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20" b="1">
                <a:solidFill>
                  <a:srgbClr val="0F172A"/>
                </a:solidFill>
                <a:latin typeface="Noto Sans CJK TC"/>
              </a:rPr>
              <a:t>• Proposed（工具型 Agent）</a:t>
            </a:r>
            <a:r>
              <a:rPr sz="1360" b="0">
                <a:solidFill>
                  <a:srgbClr val="334155"/>
                </a:solidFill>
                <a:latin typeface="Noto Sans CJK TC"/>
              </a:rPr>
              <a:t>：結合 Planner、AQX_P_488 檢索、計算工具與證據核對。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20" b="1">
                <a:solidFill>
                  <a:srgbClr val="0F172A"/>
                </a:solidFill>
                <a:latin typeface="Noto Sans CJK TC"/>
              </a:rPr>
              <a:t>• Ground Truth 建立</a:t>
            </a:r>
            <a:r>
              <a:rPr sz="1360" b="0">
                <a:solidFill>
                  <a:srgbClr val="334155"/>
                </a:solidFill>
                <a:latin typeface="Noto Sans CJK TC"/>
              </a:rPr>
              <a:t>：以固定查詢與計算腳本產生期望值，再人工抽查核對。</a:t>
            </a:r>
          </a:p>
          <a:p>
            <a:pPr algn="l">
              <a:lnSpc>
                <a:spcPct val="122000"/>
              </a:lnSpc>
            </a:pPr>
            <a:r>
              <a:rPr sz="1420" b="1">
                <a:solidFill>
                  <a:srgbClr val="0F172A"/>
                </a:solidFill>
                <a:latin typeface="Noto Sans CJK TC"/>
              </a:rPr>
              <a:t>• 預期具體交付</a:t>
            </a:r>
            <a:r>
              <a:rPr sz="1360" b="0">
                <a:solidFill>
                  <a:srgbClr val="334155"/>
                </a:solidFill>
                <a:latin typeface="Noto Sans CJK TC"/>
              </a:rPr>
              <a:t>：完成可重跑資料流程、Agent 原型與 60 題基準評估報告。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153619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50" b="1">
                <a:solidFill>
                  <a:srgbClr val="0F4C81"/>
                </a:solidFill>
                <a:latin typeface="Noto Sans CJK TC"/>
              </a:rPr>
              <a:t>60 題測試集結構與四大評估指標規劃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139696"/>
            <a:ext cx="1600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Noto Sans CJK TC"/>
              </a:rPr>
              <a:t>60 題測試集配比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2103120"/>
            <a:ext cx="435254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Noto Sans CJK TC"/>
              </a:rPr>
              <a:t>• 45 題可回答：逐時趨勢、鄰近測站比較、AQI／主要污染物解讀（各 15 題）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334155"/>
                </a:solidFill>
                <a:latin typeface="Noto Sans CJK TC"/>
              </a:rPr>
              <a:t>• 15 題應限制或拒答：資料不足、同站數值衝突、時間不完整或超出證據範圍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127248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4C81"/>
                </a:solidFill>
                <a:latin typeface="Noto Sans CJK TC"/>
              </a:rPr>
              <a:t>① 數值正確性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3090672"/>
            <a:ext cx="4352544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334155"/>
                </a:solidFill>
                <a:latin typeface="Noto Sans CJK TC"/>
              </a:rPr>
              <a:t>評估可回答題之 AQI、污染物濃度、趨勢方向、變化量與測站排序正確率。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877056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4C81"/>
                </a:solidFill>
                <a:latin typeface="Noto Sans CJK TC"/>
              </a:rPr>
              <a:t>② 證據忠實度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3840480"/>
            <a:ext cx="4352544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334155"/>
                </a:solidFill>
                <a:latin typeface="Noto Sans CJK TC"/>
              </a:rPr>
              <a:t>核對回答所列測站、時間、數值與原始紀錄對應正確率；追蹤無來源主張比例。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626864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4C81"/>
                </a:solidFill>
                <a:latin typeface="Noto Sans CJK TC"/>
              </a:rPr>
              <a:t>③ 限制處理正確率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590288"/>
            <a:ext cx="4352544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334155"/>
                </a:solidFill>
                <a:latin typeface="Noto Sans CJK TC"/>
              </a:rPr>
              <a:t>遇缺值、衝突或要求因果歸因／個人醫療診斷時，正確說明限制或拒答之比例。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5376672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4C81"/>
                </a:solidFill>
                <a:latin typeface="Noto Sans CJK TC"/>
              </a:rPr>
              <a:t>④ 錯誤案例分析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5340096"/>
            <a:ext cx="4352544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334155"/>
                </a:solidFill>
                <a:latin typeface="Noto Sans CJK TC"/>
              </a:rPr>
              <a:t>系統性記錄缺值、日期邊界、重複衝突、中英文站名差異與條件不明等失敗模式。</a:t>
            </a:r>
          </a:p>
        </p:txBody>
      </p:sp>
      <p:pic>
        <p:nvPicPr>
          <p:cNvPr id="39" name="Picture 38" descr="ic_blue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6364224"/>
            <a:ext cx="384048" cy="384048"/>
          </a:xfrm>
          <a:prstGeom prst="rect">
            <a:avLst/>
          </a:prstGeom>
          <a:ln>
            <a:noFill/>
          </a:ln>
        </p:spPr>
      </p:pic>
      <p:sp>
        <p:nvSpPr>
          <p:cNvPr id="40" name="TextBox 39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此為 Proposal 階段之評估規劃，尚未進行 Agent 實驗；測試完成前不預先宣稱模型提升幅度或健康效益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緒論與研究動機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12617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4057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相關文獻與缺口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235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6675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6487A5"/>
                </a:solidFill>
                <a:latin typeface="Noto Sans CJK TC"/>
              </a:rPr>
              <a:t>領域深度研究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7852" y="0"/>
            <a:ext cx="2852928" cy="402336"/>
          </a:xfrm>
          <a:prstGeom prst="roundRect">
            <a:avLst>
              <a:gd name="adj" fmla="val 3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29292" y="45720"/>
            <a:ext cx="267004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Noto Sans CJK TC"/>
              </a:rPr>
              <a:t>系統設計與評估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"/>
            <a:ext cx="7909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Noto Sans CJK TC"/>
              </a:rPr>
              <a:t>參考文獻與領域規範｜References [1]–[13]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234440"/>
            <a:ext cx="105156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0" y="658368"/>
            <a:ext cx="2633472" cy="384048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704088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0F4C81"/>
                </a:solidFill>
                <a:latin typeface="Noto Sans CJK TC"/>
              </a:rPr>
              <a:t>References [1]–[13]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536192"/>
            <a:ext cx="525780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17920" y="1536192"/>
            <a:ext cx="5212080" cy="46634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1664208"/>
            <a:ext cx="489204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80" b="0">
                <a:solidFill>
                  <a:srgbClr val="334155"/>
                </a:solidFill>
                <a:latin typeface="Noto Sans CJK TC"/>
              </a:rPr>
              <a:t>【AI、空品預測與低成本感測器研究 [1]–[7]】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80" b="0">
                <a:solidFill>
                  <a:srgbClr val="334155"/>
                </a:solidFill>
                <a:latin typeface="Noto Sans CJK TC"/>
              </a:rPr>
              <a:t>[1] C. Ma et al., “Multi-agent AI for end-to-end air quality analysis and decision support,” npj Clean Air, vol. 2, art. 59, 2026.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80" b="0">
                <a:solidFill>
                  <a:srgbClr val="334155"/>
                </a:solidFill>
                <a:latin typeface="Noto Sans CJK TC"/>
              </a:rPr>
              <a:t>[2] “Anomaly Detection Using Generative Language Models and Deep Feature-Based Time Series Similarity,” IEEE Access, vol. 13, 2025.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80" b="0">
                <a:solidFill>
                  <a:srgbClr val="334155"/>
                </a:solidFill>
                <a:latin typeface="Noto Sans CJK TC"/>
              </a:rPr>
              <a:t>[3] A. Yenkikar et al., “Explainable forecasting of air quality index using a hybrid random forest and ARIMA model,” MethodsX, vol. 15, 2025.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80" b="0">
                <a:solidFill>
                  <a:srgbClr val="334155"/>
                </a:solidFill>
                <a:latin typeface="Noto Sans CJK TC"/>
              </a:rPr>
              <a:t>[4] M. Lee et al., “Forecasting Air Quality in Taiwan by Using Machine Learning,” Scientific Reports, vol. 10, art. 4153, 2020.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80" b="0">
                <a:solidFill>
                  <a:srgbClr val="334155"/>
                </a:solidFill>
                <a:latin typeface="Noto Sans CJK TC"/>
              </a:rPr>
              <a:t>[5] S. Tzeng, C.-W. Lai, and H.-C. Huang, “Spatially adaptive calibrations of AirBox PM2.5 data,” Biometrics, vol. 79, no. 4, 2023.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80" b="0">
                <a:solidFill>
                  <a:srgbClr val="334155"/>
                </a:solidFill>
                <a:latin typeface="Noto Sans CJK TC"/>
              </a:rPr>
              <a:t>[6] J. Dong et al., “Calibration and validation-based assessment of low-cost air quality sensors,” Sci. Total Environ., vol. 977, 2025.</a:t>
            </a:r>
          </a:p>
          <a:p>
            <a:pPr algn="l">
              <a:lnSpc>
                <a:spcPct val="120000"/>
              </a:lnSpc>
            </a:pPr>
            <a:r>
              <a:rPr sz="1180" b="0">
                <a:solidFill>
                  <a:srgbClr val="334155"/>
                </a:solidFill>
                <a:latin typeface="Noto Sans CJK TC"/>
              </a:rPr>
              <a:t>[7] R. Fang et al., “Assessing the impact of real-world environmental factors on low-cost PM2.5 monitor performance,” Sci. Total Environ., vol. 995, 2025.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64208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80" b="0">
                <a:solidFill>
                  <a:srgbClr val="334155"/>
                </a:solidFill>
                <a:latin typeface="Noto Sans CJK TC"/>
              </a:rPr>
              <a:t>【感測器濕度修正與官方領域規範 [8]–[13]】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80" b="0">
                <a:solidFill>
                  <a:srgbClr val="334155"/>
                </a:solidFill>
                <a:latin typeface="Noto Sans CJK TC"/>
              </a:rPr>
              <a:t>[8] S. A. Lekamge and H. P. Oswin, “Exploration of a practical approach to providing RH corrections to low cost sensor networks,” npj Clim. Atmos. Sci., vol. 8, art. 227, 2025.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80" b="0">
                <a:solidFill>
                  <a:srgbClr val="334155"/>
                </a:solidFill>
                <a:latin typeface="Noto Sans CJK TC"/>
              </a:rPr>
              <a:t>[9] 台灣環境部（MOENV）, “空氣品質指標(AQI)-歷史資料 AQX_P_488,” 政府資料開放平臺 (data.moenv.gov.tw).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80" b="0">
                <a:solidFill>
                  <a:srgbClr val="334155"/>
                </a:solidFill>
                <a:latin typeface="Noto Sans CJK TC"/>
              </a:rPr>
              <a:t>[10] 台灣環境部（MOENV）, “空氣品質指標（AQI）定義與計算方式,” 空氣品質監測網 (air.moenv.gov.tw).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80" b="0">
                <a:solidFill>
                  <a:srgbClr val="334155"/>
                </a:solidFill>
                <a:latin typeface="Noto Sans CJK TC"/>
              </a:rPr>
              <a:t>[11] U.S. EPA, “A Guide to Siting and Installing Air Sensors,” Air Sensor Toolbox (epa.gov/air-sensor-toolbox).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80" b="0">
                <a:solidFill>
                  <a:srgbClr val="334155"/>
                </a:solidFill>
                <a:latin typeface="Noto Sans CJK TC"/>
              </a:rPr>
              <a:t>[12] World Health Organization (WHO), WHO Global Air Quality Guidelines: PM2.5, PM10, O3, NO2, SO2 and CO, 2021.</a:t>
            </a:r>
          </a:p>
          <a:p>
            <a:pPr algn="l">
              <a:lnSpc>
                <a:spcPct val="122000"/>
              </a:lnSpc>
            </a:pPr>
            <a:r>
              <a:rPr sz="1180" b="0">
                <a:solidFill>
                  <a:srgbClr val="334155"/>
                </a:solidFill>
                <a:latin typeface="Noto Sans CJK TC"/>
              </a:rPr>
              <a:t>[13] World Health Organization (WHO), “Exposure to health damaging air pollutants,” Science and Policy Summaries, 2025.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190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Noto Sans CJK TC"/>
              </a:rPr>
              <a:t>完整 DOI 與網址載於 Proposal.docx 第 5 節參考文獻（含 2025–2026 期刊論文與環境部／EPA／WHO 規範）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ir_bleed_ou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051560" y="2651760"/>
            <a:ext cx="47548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>
                <a:solidFill>
                  <a:srgbClr val="0F172A"/>
                </a:solidFill>
                <a:latin typeface="Noto Sans CJK TC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" y="3794760"/>
            <a:ext cx="1005840" cy="5943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4041648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0F4C81"/>
                </a:solidFill>
                <a:latin typeface="Noto Sans CJK TC"/>
              </a:rPr>
              <a:t>台灣空氣品質證據分析代理人專題提案 ｜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3307</Words>
  <Application>Microsoft Macintosh PowerPoint</Application>
  <PresentationFormat>寬螢幕</PresentationFormat>
  <Paragraphs>481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4" baseType="lpstr">
      <vt:lpstr>Noto Sans CJK TC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Richard Hsu</cp:lastModifiedBy>
  <cp:revision>2</cp:revision>
  <dcterms:created xsi:type="dcterms:W3CDTF">2013-01-27T09:14:16Z</dcterms:created>
  <dcterms:modified xsi:type="dcterms:W3CDTF">2026-11-01T04:29:07Z</dcterms:modified>
  <cp:category/>
</cp:coreProperties>
</file>